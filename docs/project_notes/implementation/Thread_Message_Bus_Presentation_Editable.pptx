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20040"/>
            <a:ext cx="6858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4200" b="1">
                <a:solidFill>
                  <a:srgbClr val="172033"/>
                </a:solidFill>
                <a:latin typeface="Arial"/>
              </a:rPr>
              <a:t>Thread and Message Bus Overview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723900"/>
            <a:ext cx="495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2200">
                <a:solidFill>
                  <a:srgbClr val="546071"/>
                </a:solidFill>
                <a:latin typeface="Arial"/>
              </a:rPr>
              <a:t>Active runtime communication paths only</a:t>
            </a:r>
          </a:p>
        </p:txBody>
      </p:sp>
      <p:sp>
        <p:nvSpPr>
          <p:cNvPr id="4" name="Main / Render thread"/>
          <p:cNvSpPr/>
          <p:nvPr/>
        </p:nvSpPr>
        <p:spPr>
          <a:xfrm>
            <a:off x="609600" y="1447800"/>
            <a:ext cx="21336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Main / Render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OpenGL, ImGui,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viewport display</a:t>
            </a:r>
          </a:p>
        </p:txBody>
      </p:sp>
      <p:sp>
        <p:nvSpPr>
          <p:cNvPr id="5" name="Simulation thread"/>
          <p:cNvSpPr/>
          <p:nvPr/>
        </p:nvSpPr>
        <p:spPr>
          <a:xfrm>
            <a:off x="4267200" y="1447800"/>
            <a:ext cx="24384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Simulation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WorldManager + PhysX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object state authority</a:t>
            </a:r>
          </a:p>
        </p:txBody>
      </p:sp>
      <p:sp>
        <p:nvSpPr>
          <p:cNvPr id="6" name="Haptic thread"/>
          <p:cNvSpPr/>
          <p:nvPr/>
        </p:nvSpPr>
        <p:spPr>
          <a:xfrm>
            <a:off x="8534400" y="1447800"/>
            <a:ext cx="22860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Haptic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1 kHz SDF contact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virtual coupling</a:t>
            </a:r>
          </a:p>
        </p:txBody>
      </p:sp>
      <p:sp>
        <p:nvSpPr>
          <p:cNvPr id="7" name="Device thread"/>
          <p:cNvSpPr/>
          <p:nvPr/>
        </p:nvSpPr>
        <p:spPr>
          <a:xfrm>
            <a:off x="8534400" y="4686300"/>
            <a:ext cx="22860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Device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1 kHz serial bridge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FK + torque mapping</a:t>
            </a:r>
          </a:p>
        </p:txBody>
      </p:sp>
      <p:sp>
        <p:nvSpPr>
          <p:cNvPr id="8" name="Log thread"/>
          <p:cNvSpPr/>
          <p:nvPr/>
        </p:nvSpPr>
        <p:spPr>
          <a:xfrm>
            <a:off x="4267200" y="4686300"/>
            <a:ext cx="2438400" cy="9525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324A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Log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non-blocking drain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CSV output on shutdown</a:t>
            </a:r>
          </a:p>
        </p:txBody>
      </p:sp>
      <p:sp>
        <p:nvSpPr>
          <p:cNvPr id="9" name="STM32 firmware"/>
          <p:cNvSpPr/>
          <p:nvPr/>
        </p:nvSpPr>
        <p:spPr>
          <a:xfrm>
            <a:off x="11125200" y="4686300"/>
            <a:ext cx="723900" cy="952500"/>
          </a:xfrm>
          <a:prstGeom prst="roundRect">
            <a:avLst/>
          </a:prstGeom>
          <a:solidFill>
            <a:srgbClr val="FFF8E8"/>
          </a:solidFill>
          <a:ln w="22860">
            <a:solidFill>
              <a:srgbClr val="8A6517"/>
            </a:solidFill>
          </a:ln>
        </p:spPr>
        <p:txBody>
          <a:bodyPr wrap="square" anchor="mid"/>
          <a:lstStyle/>
          <a:p>
            <a:pPr algn="ctr"/>
            <a:r>
              <a:rPr lang="en-GB" sz="2500" b="1">
                <a:solidFill>
                  <a:srgbClr val="172033"/>
                </a:solidFill>
                <a:latin typeface="Arial"/>
              </a:rPr>
              <a:t>MCU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state</a:t>
            </a:r>
          </a:p>
          <a:p>
            <a:pPr algn="ctr"/>
            <a:r>
              <a:rPr lang="en-GB" sz="1800">
                <a:solidFill>
                  <a:srgbClr val="546071"/>
                </a:solidFill>
                <a:latin typeface="Arial"/>
              </a:rPr>
              <a:t>torque</a:t>
            </a:r>
          </a:p>
        </p:txBody>
      </p:sp>
      <p:sp>
        <p:nvSpPr>
          <p:cNvPr id="10" name="world.commands"/>
          <p:cNvSpPr/>
          <p:nvPr/>
        </p:nvSpPr>
        <p:spPr>
          <a:xfrm>
            <a:off x="3032760" y="1600200"/>
            <a:ext cx="952500" cy="64770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World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commands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1" name="world.snapshots"/>
          <p:cNvSpPr/>
          <p:nvPr/>
        </p:nvSpPr>
        <p:spPr>
          <a:xfrm>
            <a:off x="4495800" y="548640"/>
            <a:ext cx="4114800" cy="594360"/>
          </a:xfrm>
          <a:prstGeom prst="roundRect">
            <a:avLst/>
          </a:prstGeom>
          <a:solidFill>
            <a:srgbClr val="E8F7EA"/>
          </a:solidFill>
          <a:ln w="19050">
            <a:solidFill>
              <a:srgbClr val="2F7D3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World snapshots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latest object poses, roles, physics properties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SnapshotChannel</a:t>
            </a:r>
          </a:p>
        </p:txBody>
      </p:sp>
      <p:sp>
        <p:nvSpPr>
          <p:cNvPr id="12" name="haptics.wrenches"/>
          <p:cNvSpPr/>
          <p:nvPr/>
        </p:nvSpPr>
        <p:spPr>
          <a:xfrm>
            <a:off x="7048500" y="1600200"/>
            <a:ext cx="1143000" cy="64770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Object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wrench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3" name="haptics.snapshots"/>
          <p:cNvSpPr/>
          <p:nvPr/>
        </p:nvSpPr>
        <p:spPr>
          <a:xfrm>
            <a:off x="4267200" y="2956560"/>
            <a:ext cx="2628900" cy="59436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Haptic snapshots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device pose, proxy pose, display force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4" name="device.tool_in"/>
          <p:cNvSpPr/>
          <p:nvPr/>
        </p:nvSpPr>
        <p:spPr>
          <a:xfrm>
            <a:off x="8496300" y="3314700"/>
            <a:ext cx="1447800" cy="59436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Device pose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FK tool input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5" name="device.wrench_cmd"/>
          <p:cNvSpPr/>
          <p:nvPr/>
        </p:nvSpPr>
        <p:spPr>
          <a:xfrm>
            <a:off x="10119360" y="3314700"/>
            <a:ext cx="1447800" cy="59436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B5FAB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Device force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torque command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queue</a:t>
            </a:r>
          </a:p>
        </p:txBody>
      </p:sp>
      <p:sp>
        <p:nvSpPr>
          <p:cNvPr id="16" name="logging channels"/>
          <p:cNvSpPr/>
          <p:nvPr/>
        </p:nvSpPr>
        <p:spPr>
          <a:xfrm>
            <a:off x="7010400" y="4953000"/>
            <a:ext cx="1295400" cy="624840"/>
          </a:xfrm>
          <a:prstGeom prst="roundRect">
            <a:avLst/>
          </a:prstGeom>
          <a:solidFill>
            <a:srgbClr val="FFF1DF"/>
          </a:solidFill>
          <a:ln w="19050">
            <a:solidFill>
              <a:srgbClr val="A46316"/>
            </a:solidFill>
          </a:ln>
        </p:spPr>
        <p:txBody>
          <a:bodyPr wrap="square" anchor="mid"/>
          <a:lstStyle/>
          <a:p>
            <a:pPr algn="ctr"/>
            <a:r>
              <a:rPr lang="en-GB" sz="1700" b="1">
                <a:solidFill>
                  <a:srgbClr val="172033"/>
                </a:solidFill>
                <a:latin typeface="Arial"/>
              </a:rPr>
              <a:t>Logging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timing, state,</a:t>
            </a:r>
          </a:p>
          <a:p>
            <a:pPr algn="ctr"/>
            <a:r>
              <a:rPr lang="en-GB" sz="1400">
                <a:solidFill>
                  <a:srgbClr val="4D5969"/>
                </a:solidFill>
                <a:latin typeface="Arial"/>
              </a:rPr>
              <a:t>validation</a:t>
            </a:r>
          </a:p>
        </p:txBody>
      </p:sp>
      <p:cxnSp>
        <p:nvCxnSpPr>
          <p:cNvPr id="17" name="render to world.commands"/>
          <p:cNvCxnSpPr/>
          <p:nvPr/>
        </p:nvCxnSpPr>
        <p:spPr>
          <a:xfrm>
            <a:off x="2743200" y="1920240"/>
            <a:ext cx="28956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18" name="world.commands to simulation"/>
          <p:cNvCxnSpPr/>
          <p:nvPr/>
        </p:nvCxnSpPr>
        <p:spPr>
          <a:xfrm>
            <a:off x="3985260" y="1920240"/>
            <a:ext cx="28194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19" name="simulation publishes world snapshots 1"/>
          <p:cNvCxnSpPr/>
          <p:nvPr/>
        </p:nvCxnSpPr>
        <p:spPr>
          <a:xfrm flipV="1">
            <a:off x="5486400" y="1143000"/>
            <a:ext cx="7620" cy="304800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0" name="world snapshots to render 1"/>
          <p:cNvCxnSpPr/>
          <p:nvPr/>
        </p:nvCxnSpPr>
        <p:spPr>
          <a:xfrm>
            <a:off x="5334000" y="1143000"/>
            <a:ext cx="7620" cy="11430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1" name="world snapshots to render 2"/>
          <p:cNvCxnSpPr/>
          <p:nvPr/>
        </p:nvCxnSpPr>
        <p:spPr>
          <a:xfrm flipH="1">
            <a:off x="1676400" y="1257300"/>
            <a:ext cx="3657600" cy="762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2" name="world snapshots to render 3"/>
          <p:cNvCxnSpPr/>
          <p:nvPr/>
        </p:nvCxnSpPr>
        <p:spPr>
          <a:xfrm>
            <a:off x="1676400" y="1257300"/>
            <a:ext cx="7620" cy="190500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3" name="world snapshots to haptic 1"/>
          <p:cNvCxnSpPr/>
          <p:nvPr/>
        </p:nvCxnSpPr>
        <p:spPr>
          <a:xfrm>
            <a:off x="7772400" y="1143000"/>
            <a:ext cx="7620" cy="11430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4" name="world snapshots to haptic 2"/>
          <p:cNvCxnSpPr/>
          <p:nvPr/>
        </p:nvCxnSpPr>
        <p:spPr>
          <a:xfrm>
            <a:off x="7772400" y="1257300"/>
            <a:ext cx="1905000" cy="7620"/>
          </a:xfrm>
          <a:prstGeom prst="line">
            <a:avLst/>
          </a:prstGeom>
          <a:ln w="22860">
            <a:solidFill>
              <a:srgbClr val="2F7D3B"/>
            </a:solidFill>
          </a:ln>
        </p:spPr>
      </p:cxnSp>
      <p:cxnSp>
        <p:nvCxnSpPr>
          <p:cNvPr id="25" name="world snapshots to haptic 3"/>
          <p:cNvCxnSpPr/>
          <p:nvPr/>
        </p:nvCxnSpPr>
        <p:spPr>
          <a:xfrm>
            <a:off x="9677400" y="1257300"/>
            <a:ext cx="7620" cy="190500"/>
          </a:xfrm>
          <a:prstGeom prst="line">
            <a:avLst/>
          </a:prstGeom>
          <a:ln w="22860">
            <a:solidFill>
              <a:srgbClr val="2F7D3B"/>
            </a:solidFill>
            <a:tailEnd type="triangle"/>
          </a:ln>
        </p:spPr>
      </p:cxnSp>
      <p:cxnSp>
        <p:nvCxnSpPr>
          <p:cNvPr id="26" name="haptic object wrench to queue"/>
          <p:cNvCxnSpPr/>
          <p:nvPr/>
        </p:nvCxnSpPr>
        <p:spPr>
          <a:xfrm flipH="1">
            <a:off x="8191500" y="1920240"/>
            <a:ext cx="34290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27" name="object wrench queue to simulation"/>
          <p:cNvCxnSpPr/>
          <p:nvPr/>
        </p:nvCxnSpPr>
        <p:spPr>
          <a:xfrm flipH="1">
            <a:off x="6705600" y="1920240"/>
            <a:ext cx="34290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28" name="haptic snapshots to render 1"/>
          <p:cNvCxnSpPr/>
          <p:nvPr/>
        </p:nvCxnSpPr>
        <p:spPr>
          <a:xfrm>
            <a:off x="9677400" y="2400300"/>
            <a:ext cx="7620" cy="3429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29" name="haptic snapshots to render 2"/>
          <p:cNvCxnSpPr/>
          <p:nvPr/>
        </p:nvCxnSpPr>
        <p:spPr>
          <a:xfrm flipH="1">
            <a:off x="6896100" y="2743200"/>
            <a:ext cx="27813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0" name="haptic snapshots to render 3"/>
          <p:cNvCxnSpPr/>
          <p:nvPr/>
        </p:nvCxnSpPr>
        <p:spPr>
          <a:xfrm>
            <a:off x="6896100" y="2743200"/>
            <a:ext cx="7620" cy="51054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1" name="haptic snapshots to render 4"/>
          <p:cNvCxnSpPr/>
          <p:nvPr/>
        </p:nvCxnSpPr>
        <p:spPr>
          <a:xfrm flipH="1">
            <a:off x="4267200" y="3253740"/>
            <a:ext cx="26289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2" name="haptic snapshots to render 5"/>
          <p:cNvCxnSpPr/>
          <p:nvPr/>
        </p:nvCxnSpPr>
        <p:spPr>
          <a:xfrm flipH="1">
            <a:off x="1676400" y="3253740"/>
            <a:ext cx="25908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3" name="haptic snapshots to render 6"/>
          <p:cNvCxnSpPr/>
          <p:nvPr/>
        </p:nvCxnSpPr>
        <p:spPr>
          <a:xfrm flipV="1">
            <a:off x="1676400" y="2400300"/>
            <a:ext cx="7620" cy="85344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34" name="device pose to haptic 1"/>
          <p:cNvCxnSpPr/>
          <p:nvPr/>
        </p:nvCxnSpPr>
        <p:spPr>
          <a:xfrm flipV="1">
            <a:off x="9677400" y="4267200"/>
            <a:ext cx="7620" cy="4191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5" name="device pose to haptic 2"/>
          <p:cNvCxnSpPr/>
          <p:nvPr/>
        </p:nvCxnSpPr>
        <p:spPr>
          <a:xfrm flipH="1">
            <a:off x="9220200" y="4267200"/>
            <a:ext cx="45720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6" name="device pose to haptic 3"/>
          <p:cNvCxnSpPr/>
          <p:nvPr/>
        </p:nvCxnSpPr>
        <p:spPr>
          <a:xfrm flipV="1">
            <a:off x="9220200" y="3909060"/>
            <a:ext cx="7620" cy="35814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7" name="device pose to haptic 4"/>
          <p:cNvCxnSpPr/>
          <p:nvPr/>
        </p:nvCxnSpPr>
        <p:spPr>
          <a:xfrm flipV="1">
            <a:off x="9220200" y="3314700"/>
            <a:ext cx="7620" cy="59436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38" name="device pose to haptic 5"/>
          <p:cNvCxnSpPr/>
          <p:nvPr/>
        </p:nvCxnSpPr>
        <p:spPr>
          <a:xfrm flipV="1">
            <a:off x="9220200" y="2400300"/>
            <a:ext cx="7620" cy="91440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39" name="haptic force to device 1"/>
          <p:cNvCxnSpPr/>
          <p:nvPr/>
        </p:nvCxnSpPr>
        <p:spPr>
          <a:xfrm>
            <a:off x="9677400" y="2400300"/>
            <a:ext cx="7620" cy="5715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0" name="haptic force to device 2"/>
          <p:cNvCxnSpPr/>
          <p:nvPr/>
        </p:nvCxnSpPr>
        <p:spPr>
          <a:xfrm>
            <a:off x="9677400" y="2971800"/>
            <a:ext cx="1165860" cy="762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1" name="haptic force to device 3"/>
          <p:cNvCxnSpPr/>
          <p:nvPr/>
        </p:nvCxnSpPr>
        <p:spPr>
          <a:xfrm>
            <a:off x="10843260" y="2971800"/>
            <a:ext cx="7620" cy="34290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2" name="haptic force to device 4"/>
          <p:cNvCxnSpPr/>
          <p:nvPr/>
        </p:nvCxnSpPr>
        <p:spPr>
          <a:xfrm>
            <a:off x="10843260" y="3314700"/>
            <a:ext cx="7620" cy="59436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3" name="haptic force to device 5"/>
          <p:cNvCxnSpPr/>
          <p:nvPr/>
        </p:nvCxnSpPr>
        <p:spPr>
          <a:xfrm>
            <a:off x="10843260" y="3909060"/>
            <a:ext cx="7620" cy="1249680"/>
          </a:xfrm>
          <a:prstGeom prst="line">
            <a:avLst/>
          </a:prstGeom>
          <a:ln w="22860">
            <a:solidFill>
              <a:srgbClr val="2B3548"/>
            </a:solidFill>
          </a:ln>
        </p:spPr>
      </p:cxnSp>
      <p:cxnSp>
        <p:nvCxnSpPr>
          <p:cNvPr id="44" name="haptic force to device 6"/>
          <p:cNvCxnSpPr/>
          <p:nvPr/>
        </p:nvCxnSpPr>
        <p:spPr>
          <a:xfrm flipH="1">
            <a:off x="10820400" y="5158740"/>
            <a:ext cx="22860" cy="7620"/>
          </a:xfrm>
          <a:prstGeom prst="line">
            <a:avLst/>
          </a:prstGeom>
          <a:ln w="22860">
            <a:solidFill>
              <a:srgbClr val="2B3548"/>
            </a:solidFill>
            <a:tailEnd type="triangle"/>
          </a:ln>
        </p:spPr>
      </p:cxnSp>
      <p:cxnSp>
        <p:nvCxnSpPr>
          <p:cNvPr id="45" name="device serial mcu"/>
          <p:cNvCxnSpPr/>
          <p:nvPr/>
        </p:nvCxnSpPr>
        <p:spPr>
          <a:xfrm>
            <a:off x="10820400" y="5158740"/>
            <a:ext cx="304800" cy="7620"/>
          </a:xfrm>
          <a:prstGeom prst="line">
            <a:avLst/>
          </a:prstGeom>
          <a:ln w="22860">
            <a:solidFill>
              <a:srgbClr val="6B4F12"/>
            </a:solidFill>
            <a:tailEnd type="triangle"/>
          </a:ln>
        </p:spPr>
      </p:cxnSp>
      <p:cxnSp>
        <p:nvCxnSpPr>
          <p:cNvPr id="46" name="haptic validation logging 1"/>
          <p:cNvCxnSpPr/>
          <p:nvPr/>
        </p:nvCxnSpPr>
        <p:spPr>
          <a:xfrm>
            <a:off x="9677400" y="2400300"/>
            <a:ext cx="7620" cy="1752600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cxnSp>
        <p:nvCxnSpPr>
          <p:cNvPr id="47" name="haptic validation logging 2"/>
          <p:cNvCxnSpPr/>
          <p:nvPr/>
        </p:nvCxnSpPr>
        <p:spPr>
          <a:xfrm flipH="1">
            <a:off x="8191500" y="4152900"/>
            <a:ext cx="1485900" cy="7620"/>
          </a:xfrm>
          <a:prstGeom prst="line">
            <a:avLst/>
          </a:prstGeom>
          <a:ln w="22860">
            <a:solidFill>
              <a:srgbClr val="8C5A13"/>
            </a:solidFill>
          </a:ln>
        </p:spPr>
      </p:cxnSp>
      <p:cxnSp>
        <p:nvCxnSpPr>
          <p:cNvPr id="48" name="haptic validation logging 3"/>
          <p:cNvCxnSpPr/>
          <p:nvPr/>
        </p:nvCxnSpPr>
        <p:spPr>
          <a:xfrm>
            <a:off x="8191500" y="4152900"/>
            <a:ext cx="7620" cy="800100"/>
          </a:xfrm>
          <a:prstGeom prst="line">
            <a:avLst/>
          </a:prstGeom>
          <a:ln w="22860">
            <a:solidFill>
              <a:srgbClr val="8C5A13"/>
            </a:solidFill>
            <a:tailEnd type="triangle"/>
          </a:ln>
        </p:spPr>
      </p:cxnSp>
      <p:cxnSp>
        <p:nvCxnSpPr>
          <p:cNvPr id="49" name="device logging"/>
          <p:cNvCxnSpPr/>
          <p:nvPr/>
        </p:nvCxnSpPr>
        <p:spPr>
          <a:xfrm flipH="1">
            <a:off x="8305800" y="5257800"/>
            <a:ext cx="228600" cy="7620"/>
          </a:xfrm>
          <a:prstGeom prst="line">
            <a:avLst/>
          </a:prstGeom>
          <a:ln w="22860">
            <a:solidFill>
              <a:srgbClr val="8C5A13"/>
            </a:solidFill>
            <a:tailEnd type="triangle"/>
          </a:ln>
        </p:spPr>
      </p:cxnSp>
      <p:cxnSp>
        <p:nvCxnSpPr>
          <p:cNvPr id="50" name="logging to log thread"/>
          <p:cNvCxnSpPr/>
          <p:nvPr/>
        </p:nvCxnSpPr>
        <p:spPr>
          <a:xfrm flipH="1">
            <a:off x="6705600" y="5257800"/>
            <a:ext cx="304800" cy="7620"/>
          </a:xfrm>
          <a:prstGeom prst="line">
            <a:avLst/>
          </a:prstGeom>
          <a:ln w="22860">
            <a:solidFill>
              <a:srgbClr val="8C5A13"/>
            </a:solidFill>
            <a:tailEnd type="triangle"/>
          </a:ln>
        </p:spPr>
      </p:cxnSp>
      <p:sp>
        <p:nvSpPr>
          <p:cNvPr id="51" name="Legend snapshot"/>
          <p:cNvSpPr/>
          <p:nvPr/>
        </p:nvSpPr>
        <p:spPr>
          <a:xfrm>
            <a:off x="609600" y="6057900"/>
            <a:ext cx="320040" cy="182880"/>
          </a:xfrm>
          <a:prstGeom prst="roundRect">
            <a:avLst/>
          </a:prstGeom>
          <a:solidFill>
            <a:srgbClr val="E8F7EA"/>
          </a:solidFill>
          <a:ln w="15240">
            <a:solidFill>
              <a:srgbClr val="2F7D3B"/>
            </a:solidFill>
          </a:ln>
        </p:spPr>
      </p:sp>
      <p:sp>
        <p:nvSpPr>
          <p:cNvPr id="52" name="Legend snapshot text"/>
          <p:cNvSpPr txBox="1"/>
          <p:nvPr/>
        </p:nvSpPr>
        <p:spPr>
          <a:xfrm>
            <a:off x="1043940" y="5966460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1700">
                <a:solidFill>
                  <a:srgbClr val="384456"/>
                </a:solidFill>
                <a:latin typeface="Arial"/>
              </a:rPr>
              <a:t>latest-value snapshot</a:t>
            </a:r>
          </a:p>
        </p:txBody>
      </p:sp>
      <p:sp>
        <p:nvSpPr>
          <p:cNvPr id="53" name="Legend queue"/>
          <p:cNvSpPr/>
          <p:nvPr/>
        </p:nvSpPr>
        <p:spPr>
          <a:xfrm>
            <a:off x="2590800" y="6057900"/>
            <a:ext cx="320040" cy="182880"/>
          </a:xfrm>
          <a:prstGeom prst="roundRect">
            <a:avLst/>
          </a:prstGeom>
          <a:solidFill>
            <a:srgbClr val="E7F0FF"/>
          </a:solidFill>
          <a:ln w="15240">
            <a:solidFill>
              <a:srgbClr val="2B5FAB"/>
            </a:solidFill>
          </a:ln>
        </p:spPr>
      </p:sp>
      <p:sp>
        <p:nvSpPr>
          <p:cNvPr id="54" name="Legend queue text"/>
          <p:cNvSpPr txBox="1"/>
          <p:nvPr/>
        </p:nvSpPr>
        <p:spPr>
          <a:xfrm>
            <a:off x="3025140" y="596646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1700">
                <a:solidFill>
                  <a:srgbClr val="384456"/>
                </a:solidFill>
                <a:latin typeface="Arial"/>
              </a:rPr>
              <a:t>FIFO queue</a:t>
            </a:r>
          </a:p>
        </p:txBody>
      </p:sp>
      <p:sp>
        <p:nvSpPr>
          <p:cNvPr id="55" name="Legend log"/>
          <p:cNvSpPr/>
          <p:nvPr/>
        </p:nvSpPr>
        <p:spPr>
          <a:xfrm>
            <a:off x="4076700" y="6057900"/>
            <a:ext cx="320040" cy="182880"/>
          </a:xfrm>
          <a:prstGeom prst="roundRect">
            <a:avLst/>
          </a:prstGeom>
          <a:solidFill>
            <a:srgbClr val="FFF1DF"/>
          </a:solidFill>
          <a:ln w="15240">
            <a:solidFill>
              <a:srgbClr val="A46316"/>
            </a:solidFill>
          </a:ln>
        </p:spPr>
      </p:sp>
      <p:sp>
        <p:nvSpPr>
          <p:cNvPr id="56" name="Legend log text"/>
          <p:cNvSpPr txBox="1"/>
          <p:nvPr/>
        </p:nvSpPr>
        <p:spPr>
          <a:xfrm>
            <a:off x="4511040" y="596646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1700">
                <a:solidFill>
                  <a:srgbClr val="384456"/>
                </a:solidFill>
                <a:latin typeface="Arial"/>
              </a:rPr>
              <a:t>logging queue group</a:t>
            </a:r>
          </a:p>
        </p:txBody>
      </p:sp>
      <p:sp>
        <p:nvSpPr>
          <p:cNvPr id="57" name="Note"/>
          <p:cNvSpPr txBox="1"/>
          <p:nvPr/>
        </p:nvSpPr>
        <p:spPr>
          <a:xfrm>
            <a:off x="609600" y="6385560"/>
            <a:ext cx="9525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en-GB" sz="1600">
                <a:solidFill>
                  <a:srgbClr val="687386"/>
                </a:solidFill>
                <a:latin typeface="Arial"/>
              </a:rPr>
              <a:t>Editable PowerPoint version: unused debug paths omitted; detailed channel names and payload fields remain in Thread_Message_Bus_Diagram.md.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read Bus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B5FAB"/>
      </a:accent1>
      <a:accent2>
        <a:srgbClr val="2F7D3B"/>
      </a:accent2>
      <a:accent3>
        <a:srgbClr val="A46316"/>
      </a:accent3>
      <a:accent4>
        <a:srgbClr val="8A6517"/>
      </a:accent4>
      <a:accent5>
        <a:srgbClr val="546071"/>
      </a:accent5>
      <a:accent6>
        <a:srgbClr val="172033"/>
      </a:accent6>
      <a:hlink>
        <a:srgbClr val="0563C1"/>
      </a:hlink>
      <a:folHlink>
        <a:srgbClr val="954F72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ScaleCrop>false</ScaleCrop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and Message Bus Overview</dc:title>
  <dc:creator>Codex</dc:creator>
  <cp:lastModifiedBy>Codex</cp:lastModifiedBy>
  <dcterms:created xsi:type="dcterms:W3CDTF">2026-05-04T20:09:42Z</dcterms:created>
  <dcterms:modified xsi:type="dcterms:W3CDTF">2026-05-04T20:09:42Z</dcterms:modified>
</cp:coreProperties>
</file>
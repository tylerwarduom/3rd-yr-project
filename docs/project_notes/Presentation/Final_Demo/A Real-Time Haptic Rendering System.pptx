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1:31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1 0 455 0 0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1:31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3279 0 0,'-20'18'144'0'0,"13"-12"32"0"0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1:31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24 1375 0 0,'0'0'48'0'0,"0"1"0"0"0,0-1 0 0 0,0 0-1 0 0,0 0 1 0 0,0-1 0 0 0,0 1 0 0 0,0 0-1 0 0,-1 0 1 0 0,1 0 0 0 0,0 0 0 0 0,0 0-1 0 0,0 0 1 0 0,0 0 0 0 0,0 0-1 0 0,0 0 1 0 0,0 0 0 0 0,-1 0 0 0 0,1 0-1 0 0,0 0 1 0 0,0 0 0 0 0,0 0 0 0 0,0 0-1 0 0,0 0 1 0 0,0-1 0 0 0,0 1 0 0 0,0 0-1 0 0,0 0 1 0 0,0 0 0 0 0,0 0-1 0 0,0 0 1 0 0,0 0 0 0 0,-1 0 0 0 0,1 0-1 0 0,0-1 1 0 0,0 1 0 0 0,0 0 0 0 0,0 0-1 0 0,0 0 1 0 0,0 0 0 0 0,0 0-1 0 0,0 0 1 0 0,0 0 0 0 0,0-1 0 0 0,0 1-1 0 0,0 0 1 0 0,0 0 0 0 0,1 0 0 0 0,-1 0-1 0 0,0 0 1 0 0,0 0 0 0 0,0 0 0 0 0,0-1-1 0 0,0 1-20 0 0,0 0-1 0 0,0 0 1 0 0,1-1-1 0 0,-1 1 0 0 0,0 0 1 0 0,0 0-1 0 0,1 0 1 0 0,-1-1-1 0 0,0 1 0 0 0,0 0 1 0 0,1 0-1 0 0,-1 0 1 0 0,0 0-1 0 0,0 0 1 0 0,1 0-1 0 0,-1-1 0 0 0,0 1 1 0 0,1 0-1 0 0,-1 0 1 0 0,0 0-1 0 0,0 0 0 0 0,1 0 1 0 0,-1 0-1 0 0,0 0 1 0 0,1 0-1 0 0,-1 0 1 0 0,0 1-1 0 0,1-1 0 0 0,1 0 37 0 0,1 0 0 0 0,-1 0-1 0 0,0 0 1 0 0,0 0 0 0 0,1 0 0 0 0,-1-1-1 0 0,0 1 1 0 0,0-1 0 0 0,0 1-1 0 0,1-1 1 0 0,-1 0 0 0 0,0 0-1 0 0,0 0 1 0 0,0 0 0 0 0,3-2-1 0 0,8-4-289 0 0,-13 7 210 0 0,0 0 1 0 0,0 0-1 0 0,0 0 0 0 0,0 0 0 0 0,0 0 0 0 0,0 0 0 0 0,0 0 0 0 0,0 0 0 0 0,0 0 0 0 0,0 1 0 0 0,0-1 0 0 0,0 0 0 0 0,0 0 0 0 0,0 0 1 0 0,0 0-1 0 0,0 0 0 0 0,1 0 0 0 0,-1 0 0 0 0,0 0 0 0 0,0 0 0 0 0,0 0 0 0 0,0 0 0 0 0,0 0 0 0 0,0 0 0 0 0,0 0 0 0 0,0 0 0 0 0,0 0 0 0 0,0 0 1 0 0,0 0-1 0 0,0 0 0 0 0,0 0 0 0 0,0 0 0 0 0,0 0 0 0 0,0 0 0 0 0,1 0 0 0 0,-1 0 0 0 0,0 0 0 0 0,0 0 0 0 0,0 0 0 0 0,0 0 0 0 0,0 0 0 0 0,0 0 1 0 0,0 0-1 0 0,-1 1-215 0 0,2 1-280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1:32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6 422 1727 0 0,'-3'13'13760'0'0,"2"0"-6768"0"0,0-11-6899 0 0,1-1 0 0 0,0 1 0 0 0,0 0 1 0 0,0 0-1 0 0,-1 0 0 0 0,1-1 0 0 0,1 1 0 0 0,-1 0 1 0 0,0 0-1 0 0,0-1 0 0 0,1 1 0 0 0,-1 0 0 0 0,1 0 1 0 0,-1-1-1 0 0,1 1 0 0 0,1 2 0 0 0,1-1 66 0 0,-1 0 1 0 0,0 0-1 0 0,1 0 0 0 0,-1-1 1 0 0,1 1-1 0 0,0-1 0 0 0,0 0 0 0 0,0 0 1 0 0,0 0-1 0 0,0 0 0 0 0,5 2 1 0 0,42 14 632 0 0,-16-7-512 0 0,67 29 44 0 0,97 40 480 0 0,-179-72-759 0 0,-1-1 1 0 0,1 0-1 0 0,26 5 0 0 0,-44-12-42 0 0,0 0 0 0 0,0 0 0 0 0,0 0 0 0 0,0 0 0 0 0,0 0 0 0 0,1 0 0 0 0,-1 0 0 0 0,0 0 0 0 0,0-1 0 0 0,0 1 0 0 0,0 0 0 0 0,0-1 0 0 0,0 1 0 0 0,0 0 0 0 0,0-1 0 0 0,0 1 0 0 0,0-1 0 0 0,0 0 0 0 0,0 1-1 0 0,0-1 1 0 0,-1 0 0 0 0,1 0 0 0 0,0 1 0 0 0,0-1 0 0 0,-1 0 0 0 0,1 0 0 0 0,0 0 0 0 0,-1 0 0 0 0,1 0 0 0 0,-1 0 0 0 0,1 0 0 0 0,-1 0 0 0 0,0 0 0 0 0,1 0 0 0 0,-1 0 0 0 0,0 0 0 0 0,0 0 0 0 0,0 0 0 0 0,0-3 0 0 0,1-5 4 0 0,-1 0 1 0 0,0-1 0 0 0,-2-16-1 0 0,1 13-6 0 0,-3-80 38 0 0,4 1 0 0 0,17-134 0 0 0,-13 97 15 0 0,-4 87-44 0 0,-1 41-16 0 0,1 1-1 0 0,0-1 0 0 0,0 1 1 0 0,0 0-1 0 0,0-1 1 0 0,0 1-1 0 0,0 0 1 0 0,0-1-1 0 0,0 1 1 0 0,0-1-1 0 0,0 1 1 0 0,0 0-1 0 0,0-1 1 0 0,0 1-1 0 0,1 0 1 0 0,-1-1-1 0 0,0 1 0 0 0,0 0 1 0 0,0-1-1 0 0,0 1 1 0 0,1 0-1 0 0,-1-1 1 0 0,0 1-1 0 0,0 0 1 0 0,1 0-1 0 0,-1-1 1 0 0,0 1-1 0 0,0 0 1 0 0,1-1-1 0 0,6 5-445 0 0,-3 0-52 0 0,-12-14 152 0 0,6 6-1787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1:33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4370 1672 3679 0 0,'0'0'167'0'0,"0"0"-7"0"0,1 0-127 0 0,0 2-30 0 0,1-1 0 0 0,-1 1 0 0 0,0 0 1 0 0,0 0-1 0 0,0-1 0 0 0,0 1 0 0 0,0 0 0 0 0,0 0 0 0 0,-1 0 0 0 0,1 0 0 0 0,-1 0 0 0 0,1 0 0 0 0,-1 1 0 0 0,0-1 0 0 0,1 0 0 0 0,-2 3 0 0 0,3 7 9 0 0,-9 2 16497 0 0,3-24-13914 0 0,-4-16-2306 0 0,-2 1-1 0 0,0 1 1 0 0,-1 0-1 0 0,-2 1 1 0 0,-18-27-1 0 0,19 31-50 0 0,6 9-201 0 0,-1 1 0 0 0,1 1-1 0 0,-2-1 1 0 0,1 1 0 0 0,-1 1-1 0 0,-12-10 1 0 0,-4 0 120 0 0,-27-15 1 0 0,5 4 93 0 0,-16-18-58 0 0,45 32-139 0 0,-1 0 0 0 0,-38-21 0 0 0,10 9 136 0 0,-58-42 0 0 0,70 43-128 0 0,-2 1-1 0 0,-1 2 0 0 0,-41-17 0 0 0,22 12 91 0 0,-77-48 0 0 0,86 47-79 0 0,4 3-25 0 0,-1 2 0 0 0,-1 2 0 0 0,-71-23 0 0 0,27 17 13 0 0,-154-50-36 0 0,159 45 10 0 0,50 18-14 0 0,-1 1-1 0 0,-1 2 1 0 0,-53-10-1 0 0,30 10-11 0 0,0-3 0 0 0,1-3 0 0 0,1-2 0 0 0,1-2 0 0 0,-89-48-1 0 0,96 46-1 0 0,-103-34 0 0 0,-58 1-10 0 0,98 28 18 0 0,-305-67 98 0 0,84 24 15 0 0,11-1 26 0 0,278 61-105 0 0,8 5-15 0 0,-1 1 1 0 0,1 2-1 0 0,-41 1 0 0 0,42 2-7 0 0,0-1 0 0 0,-1-2 0 0 0,-53-12 0 0 0,84 14-264 0 0,0-1 0 0 0,0 1 1 0 0,1-1-1 0 0,-1 0 0 0 0,1-1 0 0 0,0 1 0 0 0,0-1 1 0 0,0 0-1 0 0,-4-3 0 0 0,-3-6-9139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04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614 0 13359 0 0,'-7'2'7516'0'0,"-4"6"-5192"0"0,-7 11-2221 0 0,17-18 87 0 0,-133 130 1306 0 0,44-45-928 0 0,19-10-372 0 0,-86 117-1 0 0,139-168-147 0 0,10-13 24 0 0,-1 0 0 0 0,0-1-1 0 0,-1 0 1 0 0,-11 10 0 0 0,15-16-52 0 0,0 0 0 0 0,0 1 0 0 0,1-1 0 0 0,0 1 1 0 0,0 0-1 0 0,1 0 0 0 0,-1 1 0 0 0,-3 7 0 0 0,9-10-119 0 0,5-9-129 0 0,-3 2 91 0 0,4-2-207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05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20 3271 0 0,'0'0'251'0'0,"-10"-20"15644"0"0,-30 66-10161 0 0,-17 28-5552 0 0,12-14-127 0 0,19-19-89 0 0,25-38 70 0 0,-1-1 1 0 0,1 1-1 0 0,0 0 0 0 0,-1 0 1 0 0,2 0-1 0 0,-1 0 0 0 0,0 0 1 0 0,0 0-1 0 0,1 0 1 0 0,0 1-1 0 0,0-1 0 0 0,0 0 1 0 0,0 4-1 0 0,1-7-24 0 0,-1 1 1 0 0,0-1-1 0 0,1 1 0 0 0,-1 0 0 0 0,1-1 1 0 0,0 1-1 0 0,-1-1 0 0 0,1 1 0 0 0,-1-1 1 0 0,1 0-1 0 0,0 1 0 0 0,-1-1 0 0 0,1 0 1 0 0,0 1-1 0 0,0-1 0 0 0,-1 0 0 0 0,1 0 1 0 0,0 0-1 0 0,-1 1 0 0 0,1-1 1 0 0,0 0-1 0 0,0 0 0 0 0,0 0 0 0 0,-1 0 1 0 0,1 0-1 0 0,0 0 0 0 0,0-1 0 0 0,-1 1 1 0 0,1 0-1 0 0,0 0 0 0 0,-1-1 0 0 0,2 1 1 0 0,29-10 230 0 0,-27 8-183 0 0,62-27 458 0 0,-53 21-449 0 0,1 1 0 0 0,0 1-1 0 0,0 1 1 0 0,0 0-1 0 0,1 0 1 0 0,28-4 0 0 0,-38 9-52 0 0,0 1-1 0 0,0-1 1 0 0,0 1 0 0 0,0 0 0 0 0,0 1 0 0 0,0-1-1 0 0,7 3 1 0 0,-7-2-464 0 0,0 0 1 0 0,0 0-1 0 0,0-1 0 0 0,0 0 0 0 0,10 1 0 0 0,-4-4-8545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07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1922 2663 0 0,'0'-1'4'0'0,"1"0"-1"0"0,-2 1 1 0 0,1-1-1 0 0,0 1 1 0 0,0-1-1 0 0,0 1 0 0 0,0-1 1 0 0,0 0-1 0 0,0 1 1 0 0,-1-1-1 0 0,1 1 0 0 0,0-1 1 0 0,0 1-1 0 0,-1-1 1 0 0,1 1-1 0 0,0-1 0 0 0,-1 1 1 0 0,1 0-1 0 0,0-1 1 0 0,-1 1-1 0 0,1-1 1 0 0,-1 1-1 0 0,1 0 0 0 0,-1-1 1 0 0,1 1-1 0 0,-1 0 1 0 0,1 0-1 0 0,-1-1 0 0 0,1 1 1 0 0,-1 0-1 0 0,1 0 1 0 0,-1 0-1 0 0,1 0 0 0 0,-1-1 1 0 0,1 1-1 0 0,-1 0 1 0 0,0 0-1 0 0,1 0 1 0 0,-1 0-1 0 0,1 0 0 0 0,-1 1 1 0 0,1-1-1 0 0,-1 0 1 0 0,0 0-1 0 0,1 0 0 0 0,-1 0 1 0 0,1 1-1 0 0,-1-1 1 0 0,1 0-1 0 0,-1 1 0 0 0,-26 12 55 0 0,21-9-53 0 0,-24 16 77 0 0,29-19-75 0 0,0 0 0 0 0,1-1 1 0 0,-1 1-1 0 0,0-1 0 0 0,0 1 1 0 0,0-1-1 0 0,0 0 0 0 0,0 1 1 0 0,0-1-1 0 0,0 0 0 0 0,0 0 1 0 0,-1 1-1 0 0,1-1 1 0 0,0 0-1 0 0,0 0 0 0 0,0 0 1 0 0,0 0-1 0 0,0-1 0 0 0,0 1 1 0 0,0 0-1 0 0,0 0 0 0 0,0-1 1 0 0,0 1-1 0 0,0 0 0 0 0,-2-2 1 0 0,-7-6 5739 0 0,9 8-5618 0 0,1 0 1 0 0,0 0-1 0 0,0 0 0 0 0,0-1 0 0 0,-1 1 0 0 0,1 0 0 0 0,0 0 1 0 0,0 0-1 0 0,-1 0 0 0 0,1 0 0 0 0,0 0 0 0 0,0 0 0 0 0,-1 0 1 0 0,1 0-1 0 0,0 0 0 0 0,0 0 0 0 0,-1 0 0 0 0,1 0 0 0 0,0 0 1 0 0,0 0-1 0 0,-1 0 0 0 0,1 0 0 0 0,0 0 0 0 0,0 0 0 0 0,-1 0 1 0 0,1 0-1 0 0,0 1 0 0 0,0-1 0 0 0,-1 0 0 0 0,1 0 0 0 0,0 0 1 0 0,0 0-1 0 0,0 0 0 0 0,-1 1 0 0 0,1-1 0 0 0,0 0 0 0 0,0 0 0 0 0,0 0 1 0 0,0 1-1 0 0,-1-1 0 0 0,1 0 0 0 0,0 0 0 0 0,0 1 0 0 0,0-1 1 0 0,0 0-1 0 0,0 0 0 0 0,0 1 0 0 0,0-1 0 0 0,0 0 0 0 0,0 0 1 0 0,0 1-1 0 0,0-1 0 0 0,0 0 0 0 0,0 0 0 0 0,0 1 0 0 0,0-1 1 0 0,0 0-1 0 0,0 0 0 0 0,0 1 0 0 0,0-1 0 0 0,1 0 13 0 0,-1 1 0 0 0,1-1-1 0 0,-1 0 1 0 0,1 0 0 0 0,-1 0-1 0 0,1 0 1 0 0,-1 0 0 0 0,1 0 0 0 0,-1 0-1 0 0,1 0 1 0 0,-1 0 0 0 0,1 0-1 0 0,-1 0 1 0 0,1 0 0 0 0,-1 0-1 0 0,1 0 1 0 0,-1 0 0 0 0,0-1 0 0 0,1 1-1 0 0,-1 0 1 0 0,1 0 0 0 0,-1-1-1 0 0,1 1 1 0 0,-1 0 0 0 0,0-1 0 0 0,1 0-1 0 0,14-7 393 0 0,22-25 399 0 0,42-49 0 0 0,-52 52-698 0 0,1 1-1 0 0,62-50 0 0 0,-27 36 155 0 0,58-43-23 0 0,107-96-26 0 0,-184 147-294 0 0,-30 22-15 0 0,1 1 0 0 0,0 1 0 0 0,1 0 1 0 0,0 1-1 0 0,1 1 0 0 0,20-8 0 0 0,16-5 201 0 0,53-30-1 0 0,14-6 93 0 0,-23 15-196 0 0,108-40 221 0 0,-82 44-270 0 0,75-26 102 0 0,-3-8 92 0 0,-127 49-235 0 0,76-15-1 0 0,55-19 25 0 0,-178 50-60 0 0,290-81-2 0 0,-5-2 0 0 0,-135 38 0 0 0,393-96 64 0 0,-495 130-64 0 0,-1-2 0 0 0,83-38 0 0 0,-93 39 0 0 0,0 2 0 0 0,72-12 0 0 0,76-23 0 0 0,-176 43 0 0 0,1 2 0 0 0,0 1 0 0 0,0 1 0 0 0,38-1 0 0 0,18-7 211 0 0,-62 9-108 0 0,1 1 0 0 0,35-1 0 0 0,27-6 25 0 0,-88 11-123 0 0,0 0 0 0 0,0 0 0 0 0,0 0 0 0 0,0 0 0 0 0,0 0 0 0 0,0 0 1 0 0,1 0-1 0 0,-1 0 0 0 0,0 0 0 0 0,0 0 0 0 0,0 0 0 0 0,0 0 0 0 0,0 0 0 0 0,0 0 0 0 0,1 0 0 0 0,-1 0 0 0 0,0 0 0 0 0,0 0 0 0 0,0 0 0 0 0,0 0 0 0 0,0 0 0 0 0,0 0 1 0 0,1 0-1 0 0,-1 0 0 0 0,0 0 0 0 0,0 0 0 0 0,0 0 0 0 0,0 0 0 0 0,0-1 0 0 0,0 1 0 0 0,0 0 0 0 0,0 0 0 0 0,1 0 0 0 0,-1 0 0 0 0,0 0 0 0 0,0 0 0 0 0,0 0 0 0 0,0 0 1 0 0,0-1-1 0 0,0 1 0 0 0,0 0 0 0 0,0 0 0 0 0,0 0 0 0 0,0 0 0 0 0,0 0 0 0 0,0 0 0 0 0,0-1 0 0 0,0 1 0 0 0,0 0 0 0 0,0 0 0 0 0,0 0 0 0 0,0 0 0 0 0,0 0 0 0 0,0 0 1 0 0,0-1-1 0 0,0 1 0 0 0,0 0 0 0 0,0 0 0 0 0,0 0 0 0 0,0 0 0 0 0,0 0 0 0 0,-1 0 0 0 0,1-1 0 0 0,-8-5-2457 0 0,0 6-6716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0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5 522 4143 0 0,'0'0'114'0'0,"0"0"340"0"0,0 0-340 0 0,0 0-1 0 0,0 0 1 0 0,-1 0-1 0 0,1 1 1 0 0,0-1-1 0 0,0 0 1 0 0,0 0-1 0 0,0 0 1 0 0,0 0-1 0 0,0 0 1 0 0,0 0-1 0 0,-1 0 1 0 0,1 0-1 0 0,0 0 1 0 0,0 0-1 0 0,0 0 1 0 0,0 0 0 0 0,0 0-1 0 0,0 0 1 0 0,-1 0-1 0 0,1 0 1 0 0,0 0-1 0 0,0 0 1 0 0,0 0-1 0 0,0 0 1 0 0,0 0-1 0 0,0 0 1 0 0,-1 0-1 0 0,1-1 1 0 0,0 1-1 0 0,0 0 1 0 0,0 0 340 0 0,0 0-340 0 0,0 0-1 0 0,0 0 1 0 0,0 0-1 0 0,-1 0 1 0 0,1-1-1 0 0,0 1 1 0 0,0 0-1 0 0,0 0 1 0 0,0 0-1 0 0,0 0 1 0 0,0 0-1 0 0,0 0 1 0 0,0-1-1 0 0,0 1 1 0 0,0 0-1 0 0,0 0 1 0 0,0 0-1 0 0,0 0 1 0 0,0 0 0 0 0,0 0-1 0 0,0-1 1 0 0,4-12 5028 0 0,10-13 146 0 0,-10 20-5095 0 0,-1 0 1 0 0,2 1-1 0 0,-1 0 1 0 0,1 0-1 0 0,0 0 1 0 0,0 1-1 0 0,0-1 1 0 0,1 1-1 0 0,10-6 0 0 0,8-2 348 0 0,30-12 0 0 0,-16 7-100 0 0,23-7 102 0 0,1 2 0 0 0,73-15 0 0 0,-39 21-390 0 0,-66 12-65 0 0,-1-1 0 0 0,31-9-1 0 0,-14-3 26 0 0,-24 9-65 0 0,1 0 1 0 0,0 2-1 0 0,38-7 1 0 0,1 4 4 0 0,-1 0-31 0 0,-37 6 20 0 0,40-7-31 0 0,60-8 53 0 0,-26 7 21 0 0,115-20 150 0 0,-153 18-235 0 0,-53 12 1 0 0,24-5 30 0 0,43-3 1 0 0,-17 4 48 0 0,83-20-1 0 0,-70 12-46 0 0,-10 8 16 0 0,-47 5-34 0 0,0-1 1 0 0,0 0 0 0 0,-1 0 0 0 0,21-6 0 0 0,-27 5-25 0 0,-4 2-10 0 0,-1 0-1 0 0,1-1 0 0 0,0 1 1 0 0,-1-1-1 0 0,1 1 1 0 0,-1-1-1 0 0,1 0 1 0 0,0 1-1 0 0,-1-1 1 0 0,3-2-1 0 0,2-5-537 0 0,-15 6-2229 0 0,1 3-6151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19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20 7367 0 0,'8'-13'6577'0'0,"-5"6"799"0"0,-18 15-5714 0 0,-12 9-1313 0 0,2 1 1 0 0,0 1-1 0 0,-42 42 1 0 0,-57 78 2 0 0,115-128-309 0 0,-259 349 578 0 0,259-347-584 0 0,0 1 0 0 0,2 0-1 0 0,-11 26 1 0 0,18-40-39 0 0,0 0 0 0 0,0 0-1 0 0,0 0 1 0 0,1 0 0 0 0,-1 0 0 0 0,0 0-1 0 0,0 0 1 0 0,0 0 0 0 0,1 0-1 0 0,-1 0 1 0 0,0 0 0 0 0,0 0 0 0 0,0 0-1 0 0,1 0 1 0 0,-1 0 0 0 0,0 0 0 0 0,0 0-1 0 0,0 0 1 0 0,1 0 0 0 0,-1 0 0 0 0,0 0-1 0 0,0 0 1 0 0,0 0 0 0 0,0 0-1 0 0,1 0 1 0 0,-1 0 0 0 0,0 0 0 0 0,0 1-1 0 0,0-1 1 0 0,0 0 0 0 0,1 0 0 0 0,-1 0-1 0 0,0 0 1 0 0,0 0 0 0 0,0 1 0 0 0,0-1-1 0 0,0 0 1 0 0,0 0 0 0 0,1 0-1 0 0,-1 0 1 0 0,0 1 0 0 0,0-1 0 0 0,0 0-1 0 0,0 0 1 0 0,0 0 0 0 0,0 1 0 0 0,0-1-1 0 0,0 0 1 0 0,0 0 0 0 0,0 0 0 0 0,0 1-1 0 0,0-1 1 0 0,0 0 0 0 0,0 0 0 0 0,0 0-1 0 0,0 1 1 0 0,0-1 0 0 0,0 0-1 0 0,-1 0 1 0 0,1 0 0 0 0,0 1 0 0 0,0-1-1 0 0,0 0 1 0 0,0 0 0 0 0,13-9-350 0 0,-6 1-61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20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9671 0 0,'-3'1'403'0'0,"0"-1"1"0"0,-1 1-1 0 0,1 0 0 0 0,0 0 0 0 0,0 0 0 0 0,0 1 0 0 0,0-1 0 0 0,0 1 0 0 0,0-1 1 0 0,1 1-1 0 0,-1 0 0 0 0,0 0 0 0 0,1 0 0 0 0,0 1 0 0 0,-1-1 0 0 0,1 1 1 0 0,0-1-1 0 0,-3 6 0 0 0,-6 8 1480 0 0,-17 35 1 0 0,21-38-1496 0 0,-43 82 1050 0 0,-55 112-155 0 0,101-199-1216 0 0,-19 47 262 0 0,21-51-286 0 0,1-1-1 0 0,0 1 1 0 0,1-1-1 0 0,-1 1 1 0 0,0-1 0 0 0,1 1-1 0 0,0 0 1 0 0,0-1-1 0 0,0 1 1 0 0,0-1-1 0 0,1 1 1 0 0,-1 0 0 0 0,2 4-1 0 0,-1-7-26 0 0,0 0 1 0 0,0 0-1 0 0,0 0 0 0 0,0 0 1 0 0,0 0-1 0 0,0-1 0 0 0,0 1 1 0 0,0 0-1 0 0,0-1 0 0 0,0 1 1 0 0,1 0-1 0 0,-1-1 0 0 0,0 1 0 0 0,0-1 1 0 0,1 0-1 0 0,-1 1 0 0 0,0-1 1 0 0,1 0-1 0 0,-1 0 0 0 0,0 0 1 0 0,0 0-1 0 0,1 0 0 0 0,-1 0 1 0 0,0 0-1 0 0,1-1 0 0 0,-1 1 1 0 0,0 0-1 0 0,2-1 0 0 0,39-12 239 0 0,61-33 275 0 0,-64 27-393 0 0,0 2-1 0 0,2 2 1 0 0,75-19-1 0 0,-95 30-2009 0 0,0 0-7122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21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168 182 919 0 0,'0'0'67'0'0,"0"1"-22"0"0,4 3 47 0 0,-1-1-1 0 0,1 0 0 0 0,-1 0 0 0 0,1 0 0 0 0,7 4 0 0 0,-9-6 32 0 0,0 0-122 0 0,0 0 0 0 0,-1 0-1 0 0,1 0 1 0 0,0 0 0 0 0,0 0 0 0 0,0-1 0 0 0,0 1 0 0 0,1-1 0 0 0,-1 1 0 0 0,0-1 0 0 0,2 0-1 0 0,-5 1 173 0 0,-1-1-1 0 0,1 1 0 0 0,0-1 0 0 0,-1 1 1 0 0,1 0-1 0 0,0-1 0 0 0,-1 1 0 0 0,1 0 0 0 0,0 0 1 0 0,0 0-1 0 0,-1 0 0 0 0,1 0 0 0 0,0 0 0 0 0,0 0 1 0 0,0 0-1 0 0,1 1 0 0 0,-1-1 0 0 0,0 0 0 0 0,0 0 1 0 0,1 1-1 0 0,-1-1 0 0 0,0 1 0 0 0,1-1 1 0 0,-1 3-1 0 0,2-6-1990 0 0,1-1 2387 0 0,-13 5 4761 0 0,-9 6 4787 0 0,22-10-7892 0 0,13-9-410 0 0,100-71-462 0 0,-13 11-1070 0 0,-78 51-253 0 0,-11 9 8 0 0,1 0 1 0 0,0 1 0 0 0,0 0-1 0 0,20-9 1 0 0,-33 19-38 0 0,-1-1 0 0 0,0 1 0 0 0,1 0 1 0 0,-1 0-1 0 0,1 0 0 0 0,-1 0 0 0 0,1 0 0 0 0,-1 0 1 0 0,1 0-1 0 0,-1 0 0 0 0,1 0 0 0 0,-1 0 1 0 0,1 0-1 0 0,-1 1 0 0 0,0-1 0 0 0,1 0 0 0 0,-1 0 1 0 0,1 0-1 0 0,-1 1 0 0 0,1-1 0 0 0,-1 0 0 0 0,0 0 1 0 0,1 1-1 0 0,-1-1 0 0 0,0 0 0 0 0,1 1 0 0 0,-1-1 1 0 0,0 0-1 0 0,1 1 0 0 0,-1-1 0 0 0,0 0 0 0 0,0 1 1 0 0,1-1-1 0 0,-1 1 0 0 0,0-1 0 0 0,0 1 1 0 0,0-1-1 0 0,0 0 0 0 0,0 1 0 0 0,0-1 0 0 0,1 1 1 0 0,-1-1-1 0 0,0 1 0 0 0,0-1 0 0 0,0 1 0 0 0,-1-1 1 0 0,1 2-1 0 0,0-2-1 0 0,0 1-1 0 0,1 0 1 0 0,-1 0 0 0 0,-1 0 0 0 0,1 0 0 0 0,0 0 0 0 0,0 0-1 0 0,0 0 1 0 0,0 0 0 0 0,-1 0 0 0 0,1 0 0 0 0,0 0-1 0 0,-1 0 1 0 0,1-1 0 0 0,0 1 0 0 0,-1 0 0 0 0,0 0 0 0 0,1 0-1 0 0,-1-1 1 0 0,1 1 0 0 0,-1 0 0 0 0,0-1 0 0 0,1 1-1 0 0,-1 0 1 0 0,-1 0 0 0 0,-3 1 0 0 0,0 0 0 0 0,1 1 0 0 0,-1 0 0 0 0,0 0 0 0 0,-7 7 0 0 0,7-6 0 0 0,0 0 0 0 0,0-1 0 0 0,0 1 0 0 0,-10 3 0 0 0,-46 16-100 0 0,23-9-103 0 0,-45 22-1 0 0,72-31 194 0 0,0 1 0 0 0,1 0 0 0 0,0 0 0 0 0,0 1 0 0 0,0 0 0 0 0,1 1 0 0 0,0 0 0 0 0,1 1 0 0 0,0 0-1 0 0,0 0 1 0 0,1 0 0 0 0,0 1 0 0 0,-11 20 0 0 0,6-5 10 0 0,-1 0 0 0 0,-27 38 0 0 0,20-34 0 0 0,-27 51 0 0 0,50-97-1771 0 0,4 0-6730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35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73 11975 0 0,'-2'0'767'0'0,"0"0"-1"0"0,0 0 0 0 0,0 0 1 0 0,0 0-1 0 0,0 1 0 0 0,1-1 1 0 0,-1 0-1 0 0,0 1 0 0 0,0 0 1 0 0,-1 0-1 0 0,3-1-720 0 0,0 1-1 0 0,-1-1 1 0 0,1 0 0 0 0,0 0-1 0 0,0 0 1 0 0,0 0 0 0 0,0 0-1 0 0,0 0 1 0 0,0 0-1 0 0,0 0 1 0 0,0 0 0 0 0,0 0-1 0 0,0 0 1 0 0,0 0 0 0 0,0 0-1 0 0,0 0 1 0 0,0 0 0 0 0,0 0-1 0 0,0 1 1 0 0,0-1 0 0 0,0 0-1 0 0,0 0 1 0 0,0 0 0 0 0,0 0-1 0 0,0 0 1 0 0,0 0-1 0 0,0 0 1 0 0,0 0 0 0 0,0 0-1 0 0,0 0 1 0 0,0 0 0 0 0,0 1-1 0 0,0-1 1 0 0,0 0 0 0 0,0 0-1 0 0,0 0 1 0 0,0 0 0 0 0,0 0-1 0 0,0 0 1 0 0,0 0-1 0 0,0 0 1 0 0,0 0 0 0 0,0 0-1 0 0,0 0 1 0 0,0 0 0 0 0,0 0-1 0 0,0 0 1 0 0,0 1 0 0 0,0-1-1 0 0,1 0 1 0 0,-1 0 0 0 0,0 0-1 0 0,0 0 1 0 0,0 0 0 0 0,0 0-1 0 0,0 0 1 0 0,0 0-1 0 0,0 0 1 0 0,0 0 0 0 0,0 0-1 0 0,0 0 1 0 0,15 1 589 0 0,96-9 1250 0 0,2 0-673 0 0,48 4-411 0 0,108 4-318 0 0,-69-2-71 0 0,45-12-103 0 0,-175 14-190 0 0,-51 1-19 0 0,0-1 0 0 0,35-4 0 0 0,-27 1-33 0 0,29-7-70 0 0,-53 9 3 0 0,0 0 0 0 0,1 1 0 0 0,-1 0 0 0 0,0 0 0 0 0,0 0 0 0 0,1 0 0 0 0,-1 1 0 0 0,0-1 0 0 0,0 1 0 0 0,4 1 0 0 0,-4-1 0 0 0,1 0 0 0 0,0-1 0 0 0,0 1 0 0 0,0-1 0 0 0,0 0 0 0 0,7 0 0 0 0,145-15 128 0 0,-154 14-122 0 0,31-5 13 0 0,0 1 1 0 0,37 0-1 0 0,-51 2-28 0 0,-31 7-246 0 0,-5-1-152 0 0,5 0 62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36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3 919 0 0,'-18'-3'25189'0'0,"29"5"-27355"0"0,-2 0 2593 0 0,0 1 1 0 0,-1-1-1 0 0,1 2 1 0 0,10 4-1 0 0,-9-3 7 0 0,1-1 1 0 0,17 6-1 0 0,24-4 156 0 0,-41-5-465 0 0,0 0-1 0 0,0 0 1 0 0,-1 1-1 0 0,1 0 1 0 0,16 7-1 0 0,-16-5-95 0 0,1-1 0 0 0,0 0-1 0 0,0-1 1 0 0,0 0 0 0 0,0-1-1 0 0,1-1 1 0 0,12 0 0 0 0,34 3 61 0 0,-52-3-80 0 0,-6 0-7 0 0,-1 0 0 0 0,1 0 0 0 0,0 0 0 0 0,0 0 0 0 0,0-1 0 0 0,0 1 0 0 0,0 1 0 0 0,0-1 0 0 0,0 0 0 0 0,0 0 0 0 0,0 0 0 0 0,0 0 0 0 0,-1 1-1 0 0,1-1 1 0 0,0 0 0 0 0,0 1 0 0 0,0-1 0 0 0,0 1 0 0 0,-1-1 0 0 0,1 1 0 0 0,0-1 0 0 0,-1 1 0 0 0,1-1 0 0 0,0 1 0 0 0,-1 0 0 0 0,1 0 0 0 0,0-1 0 0 0,-1 1 0 0 0,1 0 0 0 0,-1 0 0 0 0,0-1-1 0 0,1 1 1 0 0,-1 0 0 0 0,1 0 0 0 0,-1 0 0 0 0,0 0 0 0 0,0 0 0 0 0,0 0 0 0 0,1 1 0 0 0,-3 1 4 0 0,0-1 1 0 0,0 1-1 0 0,0 0 0 0 0,0 0 0 0 0,0-1 1 0 0,0 1-1 0 0,-1-1 0 0 0,1 0 1 0 0,-1 0-1 0 0,1 0 0 0 0,-1 0 0 0 0,0 0 1 0 0,-3 1-1 0 0,-10 9 19 0 0,-9 10-11 0 0,-62 56 109 0 0,58-48-77 0 0,-67 62 87 0 0,74-79-58 0 0,13-8-97 0 0,7-4-92 0 0,3-3-101 0 0,4-2-1899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47.1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0 10591 0 0,'-1'8'12151'0'0,"-2"19"-8961"0"0,6-9-2880 0 0,0 0 0 0 0,-1 1 0 0 0,-1-1-1 0 0,-1 0 1 0 0,-1 1 0 0 0,-3 18-1 0 0,3 92 83 0 0,-2-92-382 0 0,-12 97-9 0 0,11-118 71 0 0,1 1-413 0 0,10-37-695 0 0,-1-1-1586 0 0,-1 9-6251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47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27 142 4143 0 0,'-27'15'19653'0'0,"74"-41"-17298"0"0,-24 13-1703 0 0,38-13 1 0 0,-15 7-305 0 0,-31 13-222 0 0,1 0-1 0 0,20-3 0 0 0,20-8 158 0 0,-27 0-283 0 0,2-1 0 0 0,-66 47-985 0 0,26-23 554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9:22:48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39 2135 0 0,'-26'30'18278'0'0,"26"-29"-18155"0"0,-1-1 0 0 0,1 1 0 0 0,-1-1 0 0 0,1 1 1 0 0,0 0-1 0 0,0-1 0 0 0,-1 1 0 0 0,1 0 1 0 0,0 0-1 0 0,0-1 0 0 0,0 1 0 0 0,0 0 0 0 0,0-1 1 0 0,0 1-1 0 0,0 0 0 0 0,0 0 0 0 0,0-1 1 0 0,0 1-1 0 0,0 0 0 0 0,0-1 0 0 0,1 1 0 0 0,-1 0 1 0 0,0-1-1 0 0,1 1 0 0 0,-1 0 0 0 0,0-1 1 0 0,1 1-1 0 0,-1 0 0 0 0,0-1 0 0 0,1 1 0 0 0,-1-1 1 0 0,1 1-1 0 0,-1-1 0 0 0,1 1 0 0 0,0-1 1 0 0,-1 0-1 0 0,1 1 0 0 0,-1-1 0 0 0,1 1 1 0 0,0-1-1 0 0,-1 0 0 0 0,1 0 0 0 0,0 1 0 0 0,-1-1 1 0 0,1 0-1 0 0,0 0 0 0 0,0 0 0 0 0,-1 0 1 0 0,1 0-1 0 0,0 0 0 0 0,-1 0 0 0 0,1 0 0 0 0,1 0 1 0 0,7-1-45 0 0,0 0 1 0 0,0-1-1 0 0,16-5 0 0 0,-1 1 475 0 0,-12 4-416 0 0,0-1 1 0 0,17-6 0 0 0,-27 9-65 0 0,6-3 17 0 0,28-9 2 0 0,-20 5-10 0 0,16-6-6 0 0,-24 10-10 0 0,1 1-14 0 0,26-8-30 0 0,-26 8 37 0 0,0 0 0 0 0,27-5-36 0 0,-27 5 52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3EE87-22FC-4B59-9983-344126377EBD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119B8-D1D1-4351-9509-0D57E434E8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42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119B8-D1D1-4351-9509-0D57E434E8C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20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119B8-D1D1-4351-9509-0D57E434E8C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44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CDA7-7D7A-B5D5-65E3-F1CDA0CE4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4DF3C-E614-F88E-40E0-5D8870601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6CE0B-0578-1A5E-0E17-072CBB7D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CE20-35FE-D605-95BD-31D87F2A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13B4B-F278-F2E4-B04D-F5D0FDED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38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A3D3-0F3B-5DCC-0394-B1F5D384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DCE0A-224F-401E-415F-965143E9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EF9EB-8992-98C3-916E-4CD67887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0DA18-D981-4807-1EC2-3DDE57A9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50252-C0D9-2A3A-8DEA-D6E40F9F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34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4F7F-E52C-9C50-2F2C-17FF035D5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4D7-85A6-5F9F-D51D-753B08FF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6D32-5BAF-1F48-2793-D01E3420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3856B-D466-0B39-5349-47730023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39180-73AD-BAC0-65F6-0D2770B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47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AE71-E82C-AA85-01C7-781AF13E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88F3-BCB4-251D-0D91-E8430DCF3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2ECC6-E6D8-21BD-088D-D25DAD0BC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02CA1-214F-DD64-9CD9-734154D0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77551-95F8-AEC6-A1D1-2CD4A3EF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0B3B0-B81B-B4E2-0C12-1DB76E1B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24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052C-AE6B-D62E-7580-70E1FA94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B2CA9-5FCE-885B-0E0D-FA93602C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3957A-9C90-A9F3-E7ED-E820F1723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FAE60-146F-B411-5A92-157E48536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3829E-3A35-2A55-BAF3-766966BD0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CD128-B30A-C96A-1F84-F5C971F1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D035-99C4-FC25-B1AA-842206FD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45C2B-A806-C9EA-1943-4614068D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47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11D4-4E70-400D-2287-C9EDAFEE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6ACD89-B0E4-7E08-0E8B-CD00A8D0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8B41A-B827-4026-613F-CE678A18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E87D8-5905-E9A5-46B1-5B77C711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5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C840C-854C-6CBA-DEBF-A79868D9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B9BEB-3799-B6BC-E915-7F9AE09B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472E-5E52-D52B-6ABD-928E6124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38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D9BD-97FF-1843-1230-E7919BC7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03D5-EEC5-8530-F959-3E8A37EA4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0C621-1EE5-3D47-E71B-8D43793E7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EC35C-0242-04BB-78B4-ED1ABCC4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B890F-E44C-CC54-D7B6-185EB652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97F76-9A20-0700-80CA-6A924CA1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70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F7D9-3A7E-AB85-D769-22B104F8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AA125-E996-B8D0-1338-A4C8C83C8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04F3C-83A0-DC1D-8742-F434913A3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8469-EA4C-4C9B-3FBB-5BB1DBB8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3427C-DA06-483E-324D-655617DE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0D10A-7795-ACD6-F9D1-EE89288E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83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6458-5BBE-F842-5C29-63AF9DB6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49A24-61AB-8DF1-3356-112BA735B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03A69-4455-1B6C-8898-FEF84046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2EF3-7AD5-0A49-5218-16F2344F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2398-895C-BBEB-E309-EC9969F2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91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8D4E9-D742-8F21-17E9-E5ED0A829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ACA4E-C36F-A1D6-82AA-BF296E5E2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DF259-ABC0-1F7E-33E1-923FD4E7E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BAE-3D8E-C97F-BF47-8993CA197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AFE7-856A-522A-0F59-3E1361BB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0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29C1A-573E-56A6-2250-C64FD018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53891-8209-B643-3C00-100E05BB2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35E9A-3BD8-CD7F-ED1F-ED07C73AB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D9A-9DAD-4B84-A085-D2D0022CD58E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2A31-899A-DA08-B2AB-078E50F5B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04E7D-7A93-2F2C-B29D-8E77DC869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6BD19-4D99-40AB-BA53-45CAFE1CE0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12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image" Target="../media/image24.png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image" Target="../media/image22.png"/><Relationship Id="rId40" Type="http://schemas.openxmlformats.org/officeDocument/2006/relationships/image" Target="../media/image2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8" Type="http://schemas.openxmlformats.org/officeDocument/2006/relationships/image" Target="../media/image7.png"/><Relationship Id="rId3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C929-6692-65BD-16C6-23E09AE12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495" y="1089563"/>
            <a:ext cx="10726994" cy="1369193"/>
          </a:xfrm>
        </p:spPr>
        <p:txBody>
          <a:bodyPr>
            <a:normAutofit fontScale="90000"/>
          </a:bodyPr>
          <a:lstStyle/>
          <a:p>
            <a:r>
              <a:rPr lang="en-GB" dirty="0"/>
              <a:t>A Low-Cost Real-Time Haptic Rendering System with Physics-Based Simulation and Force 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FCCCA-5FB7-2B30-B462-2F5102BEB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47" y="2565483"/>
            <a:ext cx="2751361" cy="3880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DC6FB1-F2B2-F588-E1CD-A2701999D85D}"/>
              </a:ext>
            </a:extLst>
          </p:cNvPr>
          <p:cNvSpPr txBox="1"/>
          <p:nvPr/>
        </p:nvSpPr>
        <p:spPr>
          <a:xfrm>
            <a:off x="5678424" y="3346704"/>
            <a:ext cx="5167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Low-cost physical haptic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Real-time simulation and visualisation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Bidirectional force-feedback loop</a:t>
            </a:r>
          </a:p>
        </p:txBody>
      </p:sp>
    </p:spTree>
    <p:extLst>
      <p:ext uri="{BB962C8B-B14F-4D97-AF65-F5344CB8AC3E}">
        <p14:creationId xmlns:p14="http://schemas.microsoft.com/office/powerpoint/2010/main" val="417650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B7E8-99EC-74E5-10D7-F6B7686E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962"/>
            <a:ext cx="10515600" cy="969899"/>
          </a:xfrm>
        </p:spPr>
        <p:txBody>
          <a:bodyPr/>
          <a:lstStyle/>
          <a:p>
            <a:r>
              <a:rPr lang="en-GB" dirty="0"/>
              <a:t>Why Haptic Feedback for Robotic Training?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57D0-512D-D445-01EF-D6BE3B2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1460"/>
            <a:ext cx="10165080" cy="2892679"/>
          </a:xfrm>
        </p:spPr>
        <p:txBody>
          <a:bodyPr/>
          <a:lstStyle/>
          <a:p>
            <a:r>
              <a:rPr lang="en-GB" dirty="0"/>
              <a:t>Manipulator training often relies heavily on vision</a:t>
            </a:r>
          </a:p>
          <a:p>
            <a:r>
              <a:rPr lang="en-GB" dirty="0"/>
              <a:t>Contact and force are difficult to communicate visually</a:t>
            </a:r>
          </a:p>
          <a:p>
            <a:r>
              <a:rPr lang="en-GB" dirty="0"/>
              <a:t>Simulation allows safe and low-risk training</a:t>
            </a:r>
          </a:p>
          <a:p>
            <a:r>
              <a:rPr lang="en-GB" dirty="0"/>
              <a:t>Commercial haptic devices are expensive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78BDED-4491-F0DF-3FC4-8C1DE31E9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013416"/>
              </p:ext>
            </p:extLst>
          </p:nvPr>
        </p:nvGraphicFramePr>
        <p:xfrm>
          <a:off x="1875536" y="1442720"/>
          <a:ext cx="8440928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464">
                  <a:extLst>
                    <a:ext uri="{9D8B030D-6E8A-4147-A177-3AD203B41FA5}">
                      <a16:colId xmlns:a16="http://schemas.microsoft.com/office/drawing/2014/main" val="2385248042"/>
                    </a:ext>
                  </a:extLst>
                </a:gridCol>
                <a:gridCol w="4220464">
                  <a:extLst>
                    <a:ext uri="{9D8B030D-6E8A-4147-A177-3AD203B41FA5}">
                      <a16:colId xmlns:a16="http://schemas.microsoft.com/office/drawing/2014/main" val="595163491"/>
                    </a:ext>
                  </a:extLst>
                </a:gridCol>
              </a:tblGrid>
              <a:tr h="496570">
                <a:tc>
                  <a:txBody>
                    <a:bodyPr/>
                    <a:lstStyle/>
                    <a:p>
                      <a:r>
                        <a:rPr lang="en-GB" dirty="0"/>
                        <a:t>Visual feedback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Visual + haptic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45196"/>
                  </a:ext>
                </a:extLst>
              </a:tr>
              <a:tr h="496570">
                <a:tc>
                  <a:txBody>
                    <a:bodyPr/>
                    <a:lstStyle/>
                    <a:p>
                      <a:r>
                        <a:rPr lang="en-GB" dirty="0"/>
                        <a:t>See motion/contact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Feel resistance/contact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036876"/>
                  </a:ext>
                </a:extLst>
              </a:tr>
              <a:tr h="496570">
                <a:tc>
                  <a:txBody>
                    <a:bodyPr/>
                    <a:lstStyle/>
                    <a:p>
                      <a:r>
                        <a:rPr lang="en-GB" dirty="0"/>
                        <a:t>Limited force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Physical contact cue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57208"/>
                  </a:ext>
                </a:extLst>
              </a:tr>
              <a:tr h="496570">
                <a:tc>
                  <a:txBody>
                    <a:bodyPr/>
                    <a:lstStyle/>
                    <a:p>
                      <a:r>
                        <a:rPr lang="en-GB" dirty="0"/>
                        <a:t>Safer than real robot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More realistic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4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25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DFFE-F9F7-7CBF-3740-919729E6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4BE8-1DC0-C431-01B8-8DDB4904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101" y="3827906"/>
            <a:ext cx="8552688" cy="2691511"/>
          </a:xfrm>
        </p:spPr>
        <p:txBody>
          <a:bodyPr/>
          <a:lstStyle/>
          <a:p>
            <a:r>
              <a:rPr lang="en-GB" dirty="0"/>
              <a:t>Real-time bidirectional interaction.</a:t>
            </a:r>
          </a:p>
          <a:p>
            <a:r>
              <a:rPr lang="en-GB" dirty="0"/>
              <a:t>Motion must be sensed and transmitted.</a:t>
            </a:r>
          </a:p>
          <a:p>
            <a:r>
              <a:rPr lang="en-GB" dirty="0"/>
              <a:t>Contact force must be computed and returned.</a:t>
            </a:r>
          </a:p>
          <a:p>
            <a:r>
              <a:rPr lang="en-GB" dirty="0"/>
              <a:t>Delay, actuator limits, and safety affect fidelity.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C67AE7-ECAE-5F49-26B7-657682BEB872}"/>
              </a:ext>
            </a:extLst>
          </p:cNvPr>
          <p:cNvGrpSpPr/>
          <p:nvPr/>
        </p:nvGrpSpPr>
        <p:grpSpPr>
          <a:xfrm>
            <a:off x="998775" y="1877346"/>
            <a:ext cx="9692640" cy="878776"/>
            <a:chOff x="978408" y="1690688"/>
            <a:chExt cx="9549384" cy="6108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DA48DB-F812-9E24-F9B3-B4F29172C6CF}"/>
                </a:ext>
              </a:extLst>
            </p:cNvPr>
            <p:cNvSpPr/>
            <p:nvPr/>
          </p:nvSpPr>
          <p:spPr>
            <a:xfrm>
              <a:off x="978408" y="1690688"/>
              <a:ext cx="1060704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User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8F68FD-F64F-753F-B7CB-EECCBAE58984}"/>
                </a:ext>
              </a:extLst>
            </p:cNvPr>
            <p:cNvSpPr/>
            <p:nvPr/>
          </p:nvSpPr>
          <p:spPr>
            <a:xfrm>
              <a:off x="2343912" y="1690688"/>
              <a:ext cx="1130808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Device Sensors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AD295E6-207F-6A18-CF1F-8EB9A539E61A}"/>
                </a:ext>
              </a:extLst>
            </p:cNvPr>
            <p:cNvSpPr/>
            <p:nvPr/>
          </p:nvSpPr>
          <p:spPr>
            <a:xfrm>
              <a:off x="3779520" y="1690688"/>
              <a:ext cx="1005840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MCU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679D3BF-C2F9-85C6-4485-9DBE2ABC253C}"/>
                </a:ext>
              </a:extLst>
            </p:cNvPr>
            <p:cNvSpPr/>
            <p:nvPr/>
          </p:nvSpPr>
          <p:spPr>
            <a:xfrm>
              <a:off x="5090160" y="1690688"/>
              <a:ext cx="1292352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Host Simulation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6F94DF-B5D8-6112-9F09-7D3FDE2BEA27}"/>
                </a:ext>
              </a:extLst>
            </p:cNvPr>
            <p:cNvSpPr/>
            <p:nvPr/>
          </p:nvSpPr>
          <p:spPr>
            <a:xfrm>
              <a:off x="6687312" y="1690688"/>
              <a:ext cx="1005840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Haptic Engine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EB27AB6-928A-F0C0-49C2-14FD7A78E340}"/>
                </a:ext>
              </a:extLst>
            </p:cNvPr>
            <p:cNvSpPr/>
            <p:nvPr/>
          </p:nvSpPr>
          <p:spPr>
            <a:xfrm>
              <a:off x="7997952" y="1690688"/>
              <a:ext cx="1219200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Torque Command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FDF408-251F-46B9-46D9-EB51E811DC42}"/>
                </a:ext>
              </a:extLst>
            </p:cNvPr>
            <p:cNvSpPr/>
            <p:nvPr/>
          </p:nvSpPr>
          <p:spPr>
            <a:xfrm>
              <a:off x="9521952" y="1690688"/>
              <a:ext cx="1005840" cy="604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Motors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FE01E9-24F0-99D5-6B0B-1E82F80F0CA6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2039112" y="1992916"/>
              <a:ext cx="324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D3193C6-A2EE-07F5-8ACA-B285A5F87343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474720" y="1992916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6FC5647-64A2-DFDC-8B54-E2212CC22D07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785360" y="1992916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D419E2A-0D5D-059B-707E-634AAB7DE40C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6382512" y="1992916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9EB8F3D-4B17-2F02-985B-380931A36B1F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7693152" y="1992916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B57E729-A6AC-0750-42CD-DC665EE1CC1F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9217152" y="1992916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B085DA57-74F8-B80D-628A-2578A5ABD1B0}"/>
                </a:ext>
              </a:extLst>
            </p:cNvPr>
            <p:cNvCxnSpPr>
              <a:cxnSpLocks/>
              <a:stCxn id="10" idx="2"/>
              <a:endCxn id="4" idx="2"/>
            </p:cNvCxnSpPr>
            <p:nvPr/>
          </p:nvCxnSpPr>
          <p:spPr>
            <a:xfrm rot="5400000">
              <a:off x="5766816" y="-1962912"/>
              <a:ext cx="12700" cy="8516112"/>
            </a:xfrm>
            <a:prstGeom prst="bentConnector3">
              <a:avLst>
                <a:gd name="adj1" fmla="val 2736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137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8674-E4BD-F46F-82CF-2AD0BF64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067"/>
          </a:xfrm>
        </p:spPr>
        <p:txBody>
          <a:bodyPr/>
          <a:lstStyle/>
          <a:p>
            <a:r>
              <a:rPr lang="en-GB" dirty="0"/>
              <a:t>Aim and Evaluation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C9216-2AF9-7CE7-F981-42EC9148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608"/>
            <a:ext cx="10515600" cy="451116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Aim:</a:t>
            </a:r>
          </a:p>
          <a:p>
            <a:pPr marL="0" indent="0">
              <a:buNone/>
            </a:pPr>
            <a:r>
              <a:rPr lang="en-GB" dirty="0"/>
              <a:t>Design, prototype, and evaluate a low-cost haptic interface for simulated robotic manipulation.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Evaluation questions:</a:t>
            </a:r>
          </a:p>
          <a:p>
            <a:r>
              <a:rPr lang="en-GB" dirty="0"/>
              <a:t>Can the system operate around 1 kHz?</a:t>
            </a:r>
          </a:p>
          <a:p>
            <a:r>
              <a:rPr lang="en-GB" dirty="0"/>
              <a:t>Does the force model produce predictable bounded contact?</a:t>
            </a:r>
          </a:p>
          <a:p>
            <a:r>
              <a:rPr lang="en-GB" dirty="0"/>
              <a:t>What limits achievable haptic fidelity?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06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0CF3-2E27-1A9D-CC8B-C1CE178C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5A5AC-4F4B-518A-304C-D374F777B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50" y="1954694"/>
            <a:ext cx="10739899" cy="278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0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24CF2-85F5-0C54-C300-3C394E48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Haptic Device and Embedded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A81AE-BF24-88CD-4BAF-1C212F91D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67" y="1626430"/>
            <a:ext cx="7173238" cy="38501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B9828-3EE5-171E-F387-C37A0E8D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220" y="2511425"/>
            <a:ext cx="5097780" cy="2892679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GB" dirty="0"/>
              <a:t>2-DOF planar serial mechanism.</a:t>
            </a:r>
          </a:p>
          <a:p>
            <a:pPr algn="ctr"/>
            <a:r>
              <a:rPr lang="en-GB" dirty="0"/>
              <a:t>BLDC gimbal motors.</a:t>
            </a:r>
          </a:p>
          <a:p>
            <a:pPr algn="ctr"/>
            <a:r>
              <a:rPr lang="en-GB" dirty="0"/>
              <a:t>3:1 GT2 Pulley reducer</a:t>
            </a:r>
          </a:p>
          <a:p>
            <a:pPr algn="ctr"/>
            <a:r>
              <a:rPr lang="en-GB" dirty="0"/>
              <a:t>Magnetic encoder position sensing.</a:t>
            </a:r>
          </a:p>
          <a:p>
            <a:pPr algn="ctr"/>
            <a:r>
              <a:rPr lang="en-GB" dirty="0"/>
              <a:t>STM32 embedded control.</a:t>
            </a:r>
          </a:p>
          <a:p>
            <a:pPr algn="ctr"/>
            <a:r>
              <a:rPr lang="en-GB" dirty="0"/>
              <a:t>Torque clamp, slew-rate limiter, watchdog.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019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0521-047D-E2E0-DC89-CE6C6722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Virtual Contact to Motor Torque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2479BD-32BB-36A1-66CA-B99D20AD8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4086" y="1690688"/>
            <a:ext cx="5163827" cy="4351338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2017F4D2-9A72-605C-2FFF-1D129A3E41B5}"/>
              </a:ext>
            </a:extLst>
          </p:cNvPr>
          <p:cNvGrpSpPr/>
          <p:nvPr/>
        </p:nvGrpSpPr>
        <p:grpSpPr>
          <a:xfrm>
            <a:off x="3210690" y="1583310"/>
            <a:ext cx="5637240" cy="1460520"/>
            <a:chOff x="3210690" y="1583310"/>
            <a:chExt cx="5637240" cy="146052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A678308-96FE-37E1-132B-D6363515C975}"/>
                </a:ext>
              </a:extLst>
            </p:cNvPr>
            <p:cNvGrpSpPr/>
            <p:nvPr/>
          </p:nvGrpSpPr>
          <p:grpSpPr>
            <a:xfrm>
              <a:off x="3210690" y="2172270"/>
              <a:ext cx="1629000" cy="664560"/>
              <a:chOff x="3210690" y="2172270"/>
              <a:chExt cx="1629000" cy="6645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C26DDEF7-08CC-B132-E191-CC3EA971CAD8}"/>
                      </a:ext>
                    </a:extLst>
                  </p14:cNvPr>
                  <p14:cNvContentPartPr/>
                  <p14:nvPr/>
                </p14:nvContentPartPr>
                <p14:xfrm>
                  <a:off x="4605690" y="2773110"/>
                  <a:ext cx="360" cy="36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C26DDEF7-08CC-B132-E191-CC3EA971CAD8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599570" y="2766990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FAF7C1B-E247-C6C4-6FC2-A2E844988D3F}"/>
                      </a:ext>
                    </a:extLst>
                  </p14:cNvPr>
                  <p14:cNvContentPartPr/>
                  <p14:nvPr/>
                </p14:nvContentPartPr>
                <p14:xfrm>
                  <a:off x="4601370" y="2781390"/>
                  <a:ext cx="10080" cy="900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FAF7C1B-E247-C6C4-6FC2-A2E844988D3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595250" y="2775270"/>
                    <a:ext cx="22320" cy="2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15DDFAD5-5300-63ED-61E6-66FA0D4578BE}"/>
                      </a:ext>
                    </a:extLst>
                  </p14:cNvPr>
                  <p14:cNvContentPartPr/>
                  <p14:nvPr/>
                </p14:nvContentPartPr>
                <p14:xfrm>
                  <a:off x="4604250" y="2767350"/>
                  <a:ext cx="22680" cy="900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15DDFAD5-5300-63ED-61E6-66FA0D4578B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4598130" y="2761230"/>
                    <a:ext cx="34920" cy="2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DA9947F8-A326-56CD-9247-F1DEB87F5432}"/>
                      </a:ext>
                    </a:extLst>
                  </p14:cNvPr>
                  <p14:cNvContentPartPr/>
                  <p14:nvPr/>
                </p14:nvContentPartPr>
                <p14:xfrm>
                  <a:off x="4628370" y="2586630"/>
                  <a:ext cx="211320" cy="2502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DA9947F8-A326-56CD-9247-F1DEB87F5432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4622250" y="2580510"/>
                    <a:ext cx="223560" cy="262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E0141EFF-DC28-21D4-DF76-FBEE34FAF1F5}"/>
                      </a:ext>
                    </a:extLst>
                  </p14:cNvPr>
                  <p14:cNvContentPartPr/>
                  <p14:nvPr/>
                </p14:nvContentPartPr>
                <p14:xfrm>
                  <a:off x="3210690" y="2172270"/>
                  <a:ext cx="1578600" cy="62424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E0141EFF-DC28-21D4-DF76-FBEE34FAF1F5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204570" y="2166150"/>
                    <a:ext cx="1590840" cy="636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5F0F4C1-E978-512C-AB6E-35EF37138BBC}"/>
                </a:ext>
              </a:extLst>
            </p:cNvPr>
            <p:cNvGrpSpPr/>
            <p:nvPr/>
          </p:nvGrpSpPr>
          <p:grpSpPr>
            <a:xfrm>
              <a:off x="6285450" y="2052030"/>
              <a:ext cx="2562480" cy="869760"/>
              <a:chOff x="6285450" y="2052030"/>
              <a:chExt cx="2562480" cy="8697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4A4FD534-3610-3848-7937-34BD76D36485}"/>
                      </a:ext>
                    </a:extLst>
                  </p14:cNvPr>
                  <p14:cNvContentPartPr/>
                  <p14:nvPr/>
                </p14:nvContentPartPr>
                <p14:xfrm>
                  <a:off x="6359610" y="2653590"/>
                  <a:ext cx="221400" cy="24228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4A4FD534-3610-3848-7937-34BD76D3648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353490" y="2647470"/>
                    <a:ext cx="233640" cy="25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E1E00942-A731-C949-6A0C-E4EC2A61F8DE}"/>
                      </a:ext>
                    </a:extLst>
                  </p14:cNvPr>
                  <p14:cNvContentPartPr/>
                  <p14:nvPr/>
                </p14:nvContentPartPr>
                <p14:xfrm>
                  <a:off x="6285450" y="2822790"/>
                  <a:ext cx="126000" cy="9900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E1E00942-A731-C949-6A0C-E4EC2A61F8DE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279330" y="2816670"/>
                    <a:ext cx="138240" cy="11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D2D1092D-10BE-3364-3E88-3DF026EDFEFA}"/>
                      </a:ext>
                    </a:extLst>
                  </p14:cNvPr>
                  <p14:cNvContentPartPr/>
                  <p14:nvPr/>
                </p14:nvContentPartPr>
                <p14:xfrm>
                  <a:off x="6316410" y="2215470"/>
                  <a:ext cx="1792800" cy="70308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D2D1092D-10BE-3364-3E88-3DF026EDFEFA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310290" y="2209350"/>
                    <a:ext cx="1805040" cy="71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89EB3ABE-02B1-B673-D5EB-782637486E58}"/>
                      </a:ext>
                    </a:extLst>
                  </p14:cNvPr>
                  <p14:cNvContentPartPr/>
                  <p14:nvPr/>
                </p14:nvContentPartPr>
                <p14:xfrm>
                  <a:off x="8091210" y="2052030"/>
                  <a:ext cx="756720" cy="188640"/>
                </p14:xfrm>
              </p:contentPart>
            </mc:Choice>
            <mc:Fallback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89EB3ABE-02B1-B673-D5EB-782637486E5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085090" y="2045910"/>
                    <a:ext cx="768960" cy="200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A78F1BA-6A85-BE75-4194-BB70FFBEFC5C}"/>
                </a:ext>
              </a:extLst>
            </p:cNvPr>
            <p:cNvGrpSpPr/>
            <p:nvPr/>
          </p:nvGrpSpPr>
          <p:grpSpPr>
            <a:xfrm>
              <a:off x="6001050" y="1583310"/>
              <a:ext cx="380880" cy="384480"/>
              <a:chOff x="6001050" y="1583310"/>
              <a:chExt cx="380880" cy="384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0F5BE7A1-FA40-2074-1FCE-695862984BAE}"/>
                      </a:ext>
                    </a:extLst>
                  </p14:cNvPr>
                  <p14:cNvContentPartPr/>
                  <p14:nvPr/>
                </p14:nvContentPartPr>
                <p14:xfrm>
                  <a:off x="6072690" y="1650990"/>
                  <a:ext cx="217440" cy="25992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F5BE7A1-FA40-2074-1FCE-695862984BAE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066570" y="1644870"/>
                    <a:ext cx="229680" cy="27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F72A135E-A30D-F6D9-61D3-F174A22668F1}"/>
                      </a:ext>
                    </a:extLst>
                  </p14:cNvPr>
                  <p14:cNvContentPartPr/>
                  <p14:nvPr/>
                </p14:nvContentPartPr>
                <p14:xfrm>
                  <a:off x="6001050" y="1769790"/>
                  <a:ext cx="166320" cy="198000"/>
                </p14:xfrm>
              </p:contentPart>
            </mc:Choice>
            <mc:Fallback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F72A135E-A30D-F6D9-61D3-F174A22668F1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5994930" y="1763670"/>
                    <a:ext cx="178560" cy="21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C55A4914-867B-481C-FDE2-5F7191A5E5B7}"/>
                      </a:ext>
                    </a:extLst>
                  </p14:cNvPr>
                  <p14:cNvContentPartPr/>
                  <p14:nvPr/>
                </p14:nvContentPartPr>
                <p14:xfrm>
                  <a:off x="6190050" y="1583310"/>
                  <a:ext cx="191880" cy="18216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55A4914-867B-481C-FDE2-5F7191A5E5B7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6183930" y="1577190"/>
                    <a:ext cx="204120" cy="194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1D0521D-8BA7-FC58-4B0D-54C70834B313}"/>
                </a:ext>
              </a:extLst>
            </p:cNvPr>
            <p:cNvGrpSpPr/>
            <p:nvPr/>
          </p:nvGrpSpPr>
          <p:grpSpPr>
            <a:xfrm>
              <a:off x="5308050" y="2723430"/>
              <a:ext cx="749880" cy="320400"/>
              <a:chOff x="5308050" y="2723430"/>
              <a:chExt cx="749880" cy="3204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4A4EE236-1840-C764-8D00-8FE5183C6EFB}"/>
                      </a:ext>
                    </a:extLst>
                  </p14:cNvPr>
                  <p14:cNvContentPartPr/>
                  <p14:nvPr/>
                </p14:nvContentPartPr>
                <p14:xfrm>
                  <a:off x="5308050" y="2959950"/>
                  <a:ext cx="628920" cy="2988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4A4EE236-1840-C764-8D00-8FE5183C6EFB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5299410" y="2950950"/>
                    <a:ext cx="646560" cy="4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AD06230A-1A68-935D-0ED5-CA6B0DF49048}"/>
                      </a:ext>
                    </a:extLst>
                  </p14:cNvPr>
                  <p14:cNvContentPartPr/>
                  <p14:nvPr/>
                </p14:nvContentPartPr>
                <p14:xfrm>
                  <a:off x="5896290" y="2904510"/>
                  <a:ext cx="161640" cy="139320"/>
                </p14:xfrm>
              </p:contentPart>
            </mc:Choice>
            <mc:Fallback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AD06230A-1A68-935D-0ED5-CA6B0DF49048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5887290" y="2895510"/>
                    <a:ext cx="179280" cy="156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9FE63482-2D9A-06EC-EBEF-25B51B733E8F}"/>
                      </a:ext>
                    </a:extLst>
                  </p14:cNvPr>
                  <p14:cNvContentPartPr/>
                  <p14:nvPr/>
                </p14:nvContentPartPr>
                <p14:xfrm>
                  <a:off x="5582010" y="2747910"/>
                  <a:ext cx="11520" cy="185400"/>
                </p14:xfrm>
              </p:contentPart>
            </mc:Choice>
            <mc:Fallback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9FE63482-2D9A-06EC-EBEF-25B51B733E8F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573370" y="2738910"/>
                    <a:ext cx="29160" cy="20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33A0EAA0-9E71-DBFB-E06F-B8106DE6CC1A}"/>
                      </a:ext>
                    </a:extLst>
                  </p14:cNvPr>
                  <p14:cNvContentPartPr/>
                  <p14:nvPr/>
                </p14:nvContentPartPr>
                <p14:xfrm>
                  <a:off x="5588490" y="2723430"/>
                  <a:ext cx="129960" cy="56880"/>
                </p14:xfrm>
              </p:contentPart>
            </mc:Choice>
            <mc:Fallback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33A0EAA0-9E71-DBFB-E06F-B8106DE6CC1A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579490" y="2714430"/>
                    <a:ext cx="147600" cy="7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D80ADD4B-9782-F23C-14CB-34E52C1B3196}"/>
                      </a:ext>
                    </a:extLst>
                  </p14:cNvPr>
                  <p14:cNvContentPartPr/>
                  <p14:nvPr/>
                </p14:nvContentPartPr>
                <p14:xfrm>
                  <a:off x="5606490" y="2811990"/>
                  <a:ext cx="129600" cy="34200"/>
                </p14:xfrm>
              </p:contentPart>
            </mc:Choice>
            <mc:Fallback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D80ADD4B-9782-F23C-14CB-34E52C1B3196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5597850" y="2803350"/>
                    <a:ext cx="147240" cy="518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F8009F8-8DDB-1869-9A96-C8C1032DA133}"/>
              </a:ext>
            </a:extLst>
          </p:cNvPr>
          <p:cNvGrpSpPr/>
          <p:nvPr/>
        </p:nvGrpSpPr>
        <p:grpSpPr>
          <a:xfrm>
            <a:off x="1259134" y="1267667"/>
            <a:ext cx="10475666" cy="1420036"/>
            <a:chOff x="1259134" y="1267667"/>
            <a:chExt cx="10475666" cy="142003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52DC875-EFF2-8620-CB15-CD70158DF00B}"/>
                </a:ext>
              </a:extLst>
            </p:cNvPr>
            <p:cNvSpPr txBox="1"/>
            <p:nvPr/>
          </p:nvSpPr>
          <p:spPr>
            <a:xfrm>
              <a:off x="6348450" y="1267667"/>
              <a:ext cx="16001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Virtual Wall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FC5DA08-F1A8-50D1-FA0C-E7890586167D}"/>
                    </a:ext>
                  </a:extLst>
                </p:cNvPr>
                <p:cNvSpPr txBox="1"/>
                <p:nvPr/>
              </p:nvSpPr>
              <p:spPr>
                <a:xfrm>
                  <a:off x="8947150" y="1837727"/>
                  <a:ext cx="2787650" cy="849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Virtual Proxy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GB" sz="1400" dirty="0"/>
                    <a:t>Constrained to Surface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pt-BR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16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GB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FC5DA08-F1A8-50D1-FA0C-E78905861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7150" y="1837727"/>
                  <a:ext cx="2787650" cy="849976"/>
                </a:xfrm>
                <a:prstGeom prst="rect">
                  <a:avLst/>
                </a:prstGeom>
                <a:blipFill>
                  <a:blip r:embed="rId37"/>
                  <a:stretch>
                    <a:fillRect l="-1969" t="-3571" b="-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7D82F6F-E0D3-C457-7D73-FF404508E2C3}"/>
                    </a:ext>
                  </a:extLst>
                </p:cNvPr>
                <p:cNvSpPr txBox="1"/>
                <p:nvPr/>
              </p:nvSpPr>
              <p:spPr>
                <a:xfrm>
                  <a:off x="1259134" y="1955987"/>
                  <a:ext cx="21032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Device End effector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dirty="0"/>
                    <a:t> </a:t>
                  </a: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7D82F6F-E0D3-C457-7D73-FF404508E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134" y="1955987"/>
                  <a:ext cx="2103254" cy="646331"/>
                </a:xfrm>
                <a:prstGeom prst="rect">
                  <a:avLst/>
                </a:prstGeom>
                <a:blipFill>
                  <a:blip r:embed="rId38"/>
                  <a:stretch>
                    <a:fillRect l="-2609" t="-5660" b="-1037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6CD306E-9AF1-F682-B8B3-70C1AD26893B}"/>
                  </a:ext>
                </a:extLst>
              </p:cNvPr>
              <p:cNvSpPr txBox="1"/>
              <p:nvPr/>
            </p:nvSpPr>
            <p:spPr>
              <a:xfrm>
                <a:off x="5231106" y="4570100"/>
                <a:ext cx="1729786" cy="37433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6CD306E-9AF1-F682-B8B3-70C1AD268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106" y="4570100"/>
                <a:ext cx="1729786" cy="374333"/>
              </a:xfrm>
              <a:prstGeom prst="rect">
                <a:avLst/>
              </a:prstGeom>
              <a:blipFill>
                <a:blip r:embed="rId3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7033E3-746B-28F7-3C9C-83F1A35755A3}"/>
                  </a:ext>
                </a:extLst>
              </p:cNvPr>
              <p:cNvSpPr txBox="1"/>
              <p:nvPr/>
            </p:nvSpPr>
            <p:spPr>
              <a:xfrm>
                <a:off x="3839253" y="3797122"/>
                <a:ext cx="4437354" cy="3940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7033E3-746B-28F7-3C9C-83F1A3575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253" y="3797122"/>
                <a:ext cx="4437354" cy="394019"/>
              </a:xfrm>
              <a:prstGeom prst="rect">
                <a:avLst/>
              </a:prstGeom>
              <a:blipFill>
                <a:blip r:embed="rId4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24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C42C-F294-CF48-6801-12BFA124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Host Software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934D5-3120-3F53-3FAD-4003B2470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874" y="1350136"/>
            <a:ext cx="9092251" cy="50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3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6347-F37D-9AA2-E199-B40A4FC7F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731C4-68B1-28A1-9477-B451AE7EEB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541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2529-7385-B17F-6442-FB028D30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487FC1-AF10-53C3-FA62-ADD9CA66C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259211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543089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513802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23456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61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Update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~1KHz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Real-time loop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69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Host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0.299 ms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Host computation not bottleneck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2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15.60–15.67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Communication dominates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19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Force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489.57 N/m, R² = 0.9973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Matches 500 N/m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989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31 N clamp, 55 N m/s slew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Bounded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04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03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88E2-8FF6-783F-E394-7D7A4A533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546"/>
            <a:ext cx="10515600" cy="1325563"/>
          </a:xfrm>
        </p:spPr>
        <p:txBody>
          <a:bodyPr/>
          <a:lstStyle/>
          <a:p>
            <a:r>
              <a:rPr lang="en-GB" dirty="0"/>
              <a:t>Main Bottleneck: Communication Latency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7E1C2E-C5AF-DA94-3FBE-ED5DC0468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632" t="4112" r="3577" b="4363"/>
          <a:stretch>
            <a:fillRect/>
          </a:stretch>
        </p:blipFill>
        <p:spPr>
          <a:xfrm>
            <a:off x="4629931" y="1479109"/>
            <a:ext cx="7232784" cy="2438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918C63-4CDA-E4B1-A2F0-CCBCCC200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" t="585" r="678"/>
          <a:stretch>
            <a:fillRect/>
          </a:stretch>
        </p:blipFill>
        <p:spPr>
          <a:xfrm>
            <a:off x="7678392" y="4071828"/>
            <a:ext cx="2843272" cy="2037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43E20C-D69C-3C31-E857-0B8A92A8D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85" y="1900898"/>
            <a:ext cx="4275178" cy="3056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AEF397-D636-60BA-17E5-945050195564}"/>
              </a:ext>
            </a:extLst>
          </p:cNvPr>
          <p:cNvSpPr txBox="1"/>
          <p:nvPr/>
        </p:nvSpPr>
        <p:spPr>
          <a:xfrm>
            <a:off x="701040" y="5647649"/>
            <a:ext cx="4885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Host computation was fast; transport delay dominated the haptic loop.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966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4DE9-6477-DFD7-1135-1544C644C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22"/>
            <a:ext cx="10515600" cy="1325563"/>
          </a:xfrm>
        </p:spPr>
        <p:txBody>
          <a:bodyPr/>
          <a:lstStyle/>
          <a:p>
            <a:r>
              <a:rPr lang="en-GB" dirty="0"/>
              <a:t>Haptic Rendering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70B41F-96C2-E37D-631F-A5FD271B5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16" y="1255950"/>
            <a:ext cx="5155342" cy="3480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5D12A-5AD0-2EE8-72E1-E89027A5F4DF}"/>
              </a:ext>
            </a:extLst>
          </p:cNvPr>
          <p:cNvSpPr txBox="1"/>
          <p:nvPr/>
        </p:nvSpPr>
        <p:spPr>
          <a:xfrm>
            <a:off x="526479" y="4861534"/>
            <a:ext cx="77960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Motors disabled to isolate command-side force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Configured stiffness: 500 N/m.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Fitted stiffness: 489.57 N/m.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R² = 0.9973.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Single-depth contact remained stable: coefficient of variation = 0.026.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E8A441-201B-2C7D-672F-B4FA48A2E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688" y="1255950"/>
            <a:ext cx="3773112" cy="2584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950404-9E0D-D31E-3A44-D92A71C0B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688" y="3840440"/>
            <a:ext cx="3773112" cy="242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6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DF9B-326F-0043-F86C-CF142CB6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641"/>
            <a:ext cx="10515600" cy="1325563"/>
          </a:xfrm>
        </p:spPr>
        <p:txBody>
          <a:bodyPr/>
          <a:lstStyle/>
          <a:p>
            <a:r>
              <a:rPr lang="en-GB" dirty="0"/>
              <a:t>Safety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61E13-4067-D925-2E0F-D493E97A4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885" y="497488"/>
            <a:ext cx="3827971" cy="2584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EFF06F-EAC8-078C-DC3B-C72AA559B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0" y="1789733"/>
            <a:ext cx="6111782" cy="1937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F113C-9810-2627-3216-483E4FCD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91" y="3585522"/>
            <a:ext cx="4955458" cy="2640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8C6B99-B1C5-1E05-07F1-8FA0C8AF7C24}"/>
              </a:ext>
            </a:extLst>
          </p:cNvPr>
          <p:cNvSpPr txBox="1"/>
          <p:nvPr/>
        </p:nvSpPr>
        <p:spPr>
          <a:xfrm>
            <a:off x="609601" y="4391791"/>
            <a:ext cx="581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Host force command saturated at 31 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Firmware torque cap limited applied command.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Slew-rate limiter bounded sudden torque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Watchdog set torque to zero during communication loss.</a:t>
            </a:r>
          </a:p>
        </p:txBody>
      </p:sp>
    </p:spTree>
    <p:extLst>
      <p:ext uri="{BB962C8B-B14F-4D97-AF65-F5344CB8AC3E}">
        <p14:creationId xmlns:p14="http://schemas.microsoft.com/office/powerpoint/2010/main" val="59269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3F95-43B6-80EB-036A-44004388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237763"/>
            <a:ext cx="10515600" cy="1325563"/>
          </a:xfrm>
        </p:spPr>
        <p:txBody>
          <a:bodyPr/>
          <a:lstStyle/>
          <a:p>
            <a:r>
              <a:rPr lang="en-GB" dirty="0"/>
              <a:t>Hardware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A6D167-D73C-393C-1275-9A0DEDCAC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" y="1374556"/>
            <a:ext cx="4556344" cy="282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FB1812-2E81-582D-A5AE-7DC342FCD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4076"/>
            <a:ext cx="5786560" cy="3936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F4CC9-26B0-33A9-6B0D-7ACE04DE4C38}"/>
              </a:ext>
            </a:extLst>
          </p:cNvPr>
          <p:cNvSpPr txBox="1"/>
          <p:nvPr/>
        </p:nvSpPr>
        <p:spPr>
          <a:xfrm>
            <a:off x="495300" y="4381500"/>
            <a:ext cx="6108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Motor-enabled contact produced clear resisting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Contact penetration remained bounded under normal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Surface-following motion showed constraint behaviour.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Response was not rigid due to latency, slew-rate limiting, and belt compliance.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Belt slip occurred under higher user force.</a:t>
            </a:r>
          </a:p>
        </p:txBody>
      </p:sp>
    </p:spTree>
    <p:extLst>
      <p:ext uri="{BB962C8B-B14F-4D97-AF65-F5344CB8AC3E}">
        <p14:creationId xmlns:p14="http://schemas.microsoft.com/office/powerpoint/2010/main" val="428349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F7F3-E83E-9CDE-9767-1D015CBD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101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Design Trade-Offs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AC8D-DB9F-A19A-4B70-F32159925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15–16 ms RTT limited stable virtual stiffness.</a:t>
            </a:r>
          </a:p>
          <a:p>
            <a:r>
              <a:rPr lang="en-GB" dirty="0"/>
              <a:t>No current sensing limited force calibration.</a:t>
            </a:r>
          </a:p>
          <a:p>
            <a:r>
              <a:rPr lang="en-GB" dirty="0"/>
              <a:t>Belt stage introduced compliance/slip.</a:t>
            </a:r>
          </a:p>
          <a:p>
            <a:r>
              <a:rPr lang="en-GB" dirty="0"/>
              <a:t>Damping improved stability but softened contact.</a:t>
            </a:r>
          </a:p>
          <a:p>
            <a:r>
              <a:rPr lang="en-GB" dirty="0"/>
              <a:t>Slew-rate limiting reduced oscillation but slowed force response.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65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104E-82FC-F652-B5B1-E76C799F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CPD and Project Management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385D8-FCDC-CFAB-0366-21666A1C5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5864" cy="3331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CPD</a:t>
            </a:r>
          </a:p>
          <a:p>
            <a:r>
              <a:rPr lang="en-GB" dirty="0"/>
              <a:t>OpenGL rendering.</a:t>
            </a:r>
          </a:p>
          <a:p>
            <a:r>
              <a:rPr lang="en-GB" dirty="0"/>
              <a:t>C++ real-time architecture.</a:t>
            </a:r>
          </a:p>
          <a:p>
            <a:r>
              <a:rPr lang="en-GB" dirty="0"/>
              <a:t>BLDC motor control.</a:t>
            </a:r>
          </a:p>
          <a:p>
            <a:r>
              <a:rPr lang="en-GB" dirty="0"/>
              <a:t>Haptic rendering theory.</a:t>
            </a:r>
          </a:p>
          <a:p>
            <a:r>
              <a:rPr lang="en-GB" dirty="0"/>
              <a:t>Latency analysis.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22CFF-D87D-F006-48AF-8BC452A6FAF0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245864" cy="333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Project adaptation</a:t>
            </a:r>
          </a:p>
          <a:p>
            <a:r>
              <a:rPr lang="en-GB" dirty="0"/>
              <a:t>Driver integration issues.</a:t>
            </a:r>
          </a:p>
          <a:p>
            <a:r>
              <a:rPr lang="en-GB" dirty="0"/>
              <a:t>Pivot to </a:t>
            </a:r>
            <a:r>
              <a:rPr lang="en-GB" dirty="0" err="1"/>
              <a:t>SimpleFOC</a:t>
            </a:r>
            <a:r>
              <a:rPr lang="en-GB" dirty="0"/>
              <a:t> Mini.</a:t>
            </a:r>
          </a:p>
          <a:p>
            <a:r>
              <a:rPr lang="en-GB" dirty="0"/>
              <a:t>Hardware delays.</a:t>
            </a:r>
          </a:p>
          <a:p>
            <a:r>
              <a:rPr lang="en-GB" dirty="0"/>
              <a:t>Actuator failure.</a:t>
            </a:r>
          </a:p>
          <a:p>
            <a:r>
              <a:rPr lang="en-GB" dirty="0"/>
              <a:t>Integrated testing.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498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78B2-997F-E048-A414-0372D8C0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46"/>
            <a:ext cx="10515600" cy="1325563"/>
          </a:xfrm>
        </p:spPr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154A-6349-97EC-46FE-16078FCD9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1469009"/>
            <a:ext cx="10515600" cy="4351338"/>
          </a:xfrm>
        </p:spPr>
        <p:txBody>
          <a:bodyPr/>
          <a:lstStyle/>
          <a:p>
            <a:r>
              <a:rPr lang="en-GB" dirty="0"/>
              <a:t>Complete low-cost haptic loop built and evaluated.</a:t>
            </a:r>
          </a:p>
          <a:p>
            <a:r>
              <a:rPr lang="en-GB" dirty="0"/>
              <a:t>Achieved real-time sensing, rendering, torque command generation, and physical feedback.</a:t>
            </a:r>
          </a:p>
          <a:p>
            <a:r>
              <a:rPr lang="en-GB" dirty="0"/>
              <a:t>Command-side force model matched intended stiffness.</a:t>
            </a:r>
          </a:p>
          <a:p>
            <a:r>
              <a:rPr lang="en-GB" dirty="0"/>
              <a:t>Physical interaction was bounded and usable, but not rigid or force-calibrated.</a:t>
            </a:r>
          </a:p>
          <a:p>
            <a:r>
              <a:rPr lang="en-GB" dirty="0"/>
              <a:t>Communication latency was the dominant limitation.</a:t>
            </a:r>
          </a:p>
          <a:p>
            <a:r>
              <a:rPr lang="en-GB" dirty="0"/>
              <a:t>Haptic fidelity depends on the whole closed-loop system.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EB691-349A-49C3-F76F-5ACD23D98087}"/>
              </a:ext>
            </a:extLst>
          </p:cNvPr>
          <p:cNvSpPr txBox="1"/>
          <p:nvPr/>
        </p:nvSpPr>
        <p:spPr>
          <a:xfrm>
            <a:off x="737616" y="5568696"/>
            <a:ext cx="1020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High-rate control alone is not enough: latency, actuation, transmission, and control design jointly determine haptic fidelity.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7337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32CA-5608-1033-BFFE-DD9C9A0E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63FE-03BD-1BF8-8B32-BD5E8F85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Lower-latency communication link.</a:t>
            </a:r>
          </a:p>
          <a:p>
            <a:r>
              <a:rPr lang="en-GB" dirty="0"/>
              <a:t>Current sensing and force measurement.</a:t>
            </a:r>
          </a:p>
          <a:p>
            <a:r>
              <a:rPr lang="en-GB" dirty="0"/>
              <a:t>Restore full 2-DOF actuation.</a:t>
            </a:r>
          </a:p>
          <a:p>
            <a:r>
              <a:rPr lang="en-GB" dirty="0"/>
              <a:t>Improve transmission design.</a:t>
            </a:r>
          </a:p>
          <a:p>
            <a:r>
              <a:rPr lang="en-GB" dirty="0"/>
              <a:t>Improve proxy/contact handling.</a:t>
            </a:r>
          </a:p>
          <a:p>
            <a:r>
              <a:rPr lang="en-GB" dirty="0"/>
              <a:t>More realistic simulator integration.</a:t>
            </a:r>
          </a:p>
          <a:p>
            <a:r>
              <a:rPr lang="en-GB" dirty="0"/>
              <a:t>User/task-based evaluation.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2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EF11-A4E1-3C4C-A063-BDEBF316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8B70-C415-7D65-3411-B94D4797F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84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Widescreen</PresentationFormat>
  <Paragraphs>133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A Low-Cost Real-Time Haptic Rendering System with Physics-Based Simulation and Force Feedback</vt:lpstr>
      <vt:lpstr>Why Haptic Feedback for Robotic Training?</vt:lpstr>
      <vt:lpstr>The Challenge</vt:lpstr>
      <vt:lpstr>Aim and Evaluation Questions</vt:lpstr>
      <vt:lpstr>System Architecture</vt:lpstr>
      <vt:lpstr>Physical Haptic Device and Embedded Control</vt:lpstr>
      <vt:lpstr>From Virtual Contact to Motor Torque</vt:lpstr>
      <vt:lpstr>Host Software</vt:lpstr>
      <vt:lpstr>Demonstration</vt:lpstr>
      <vt:lpstr>Key Results</vt:lpstr>
      <vt:lpstr>Main Bottleneck: Communication Latency</vt:lpstr>
      <vt:lpstr>Haptic Rendering Validation</vt:lpstr>
      <vt:lpstr>Safety Validation</vt:lpstr>
      <vt:lpstr>Hardware Validation</vt:lpstr>
      <vt:lpstr>Design Trade-Offs and Limitations</vt:lpstr>
      <vt:lpstr>CPD and Project Management </vt:lpstr>
      <vt:lpstr>Conclusions</vt:lpstr>
      <vt:lpstr>Future Work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Ward</dc:creator>
  <cp:lastModifiedBy>Tyler Ward</cp:lastModifiedBy>
  <cp:revision>3</cp:revision>
  <dcterms:created xsi:type="dcterms:W3CDTF">2026-05-04T14:59:28Z</dcterms:created>
  <dcterms:modified xsi:type="dcterms:W3CDTF">2026-05-05T10:54:40Z</dcterms:modified>
</cp:coreProperties>
</file>
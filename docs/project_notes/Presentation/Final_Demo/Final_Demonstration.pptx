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Real-Time Haptic Rendering System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Low-cost bidirectional force feedback for virtual robotic interaction</a:t>
            </a:r>
          </a:p>
        </p:txBody>
      </p:sp>
      <p:sp>
        <p:nvSpPr>
          <p:cNvPr id="5" name="Title panel"/>
          <p:cNvSpPr/>
          <p:nvPr/>
        </p:nvSpPr>
        <p:spPr>
          <a:xfrm>
            <a:off x="502920" y="1417320"/>
            <a:ext cx="5074920" cy="4206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Kicker"/>
          <p:cNvSpPr txBox="1"/>
          <p:nvPr/>
        </p:nvSpPr>
        <p:spPr>
          <a:xfrm>
            <a:off x="822960" y="169164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550" b="1">
                <a:solidFill>
                  <a:srgbClr val="0E7C7B"/>
                </a:solidFill>
              </a:rPr>
              <a:t>Final Demonstration / Presentation</a:t>
            </a:r>
          </a:p>
        </p:txBody>
      </p:sp>
      <p:sp>
        <p:nvSpPr>
          <p:cNvPr id="7" name="Claim"/>
          <p:cNvSpPr txBox="1"/>
          <p:nvPr/>
        </p:nvSpPr>
        <p:spPr>
          <a:xfrm>
            <a:off x="822960" y="2212848"/>
            <a:ext cx="4389120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750" b="1">
                <a:solidFill>
                  <a:srgbClr val="1F2933"/>
                </a:solidFill>
              </a:rPr>
              <a:t>A complete low-cost haptic loop, built and measured end to end.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868680" y="3337560"/>
            <a:ext cx="438912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050">
                <a:solidFill>
                  <a:srgbClr val="1F2933"/>
                </a:solidFill>
              </a:rPr>
              <a:t>- 12 minute technical presentation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- 3 minute hybrid live demo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Prepared fallback media and quantitative evidence</a:t>
            </a:r>
          </a:p>
        </p:txBody>
      </p:sp>
      <p:pic>
        <p:nvPicPr>
          <p:cNvPr id="9" name="final_build_pic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074920" cy="4251960"/>
          </a:xfrm>
          <a:prstGeom prst="rect">
            <a:avLst/>
          </a:prstGeom>
        </p:spPr>
      </p:pic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Assessment Target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The presentation must show clear objectives, technical achievement, evidence, and confident answers.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685800" y="1572768"/>
            <a:ext cx="9646920" cy="3063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150">
                <a:solidFill>
                  <a:srgbClr val="1F2933"/>
                </a:solidFill>
              </a:rPr>
              <a:t>- Handbook limit: 15 minutes maximum, then up to 15 minutes questions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Main claim: bounded usable haptic interaction was achieved with low-cost hardware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Main insight: communication delay, not host computation, limits fidelity</a:t>
            </a:r>
          </a:p>
        </p:txBody>
      </p:sp>
      <p:sp>
        <p:nvSpPr>
          <p:cNvPr id="80" name="Callout"/>
          <p:cNvSpPr/>
          <p:nvPr/>
        </p:nvSpPr>
        <p:spPr>
          <a:xfrm>
            <a:off x="640080" y="5166360"/>
            <a:ext cx="9966960" cy="658368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1" name="Callout text"/>
          <p:cNvSpPr txBox="1"/>
          <p:nvPr/>
        </p:nvSpPr>
        <p:spPr>
          <a:xfrm>
            <a:off x="868680" y="5321808"/>
            <a:ext cx="9464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50" b="1">
                <a:solidFill>
                  <a:srgbClr val="1F2933"/>
                </a:solidFill>
              </a:rPr>
              <a:t>Story: build the full loop, measure it, and be honest about the limits.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Report Objectives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These six objectives match the dissertation objective set in the Introduction.</a:t>
            </a:r>
          </a:p>
        </p:txBody>
      </p:sp>
      <p:sp>
        <p:nvSpPr>
          <p:cNvPr id="10" name="Objective (i) card"/>
          <p:cNvSpPr/>
          <p:nvPr/>
        </p:nvSpPr>
        <p:spPr>
          <a:xfrm>
            <a:off x="594360" y="1417320"/>
            <a:ext cx="461772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Objective (i) label"/>
          <p:cNvSpPr txBox="1"/>
          <p:nvPr/>
        </p:nvSpPr>
        <p:spPr>
          <a:xfrm>
            <a:off x="731520" y="1517904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20" b="1">
                <a:solidFill>
                  <a:srgbClr val="0E7C7B"/>
                </a:solidFill>
              </a:rPr>
              <a:t>Objective (i)</a:t>
            </a:r>
          </a:p>
        </p:txBody>
      </p:sp>
      <p:sp>
        <p:nvSpPr>
          <p:cNvPr id="12" name="Objective (i) body"/>
          <p:cNvSpPr txBox="1"/>
          <p:nvPr/>
        </p:nvSpPr>
        <p:spPr>
          <a:xfrm>
            <a:off x="731520" y="1764792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00">
                <a:solidFill>
                  <a:srgbClr val="1F2933"/>
                </a:solidFill>
              </a:rPr>
              <a:t>Build a physical haptic interface below GBP200 with joint sensing and actuator torque-command capability.</a:t>
            </a:r>
          </a:p>
        </p:txBody>
      </p:sp>
      <p:sp>
        <p:nvSpPr>
          <p:cNvPr id="15" name="Objective (ii) card"/>
          <p:cNvSpPr/>
          <p:nvPr/>
        </p:nvSpPr>
        <p:spPr>
          <a:xfrm>
            <a:off x="594360" y="2542032"/>
            <a:ext cx="461772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Objective (ii) label"/>
          <p:cNvSpPr txBox="1"/>
          <p:nvPr/>
        </p:nvSpPr>
        <p:spPr>
          <a:xfrm>
            <a:off x="731520" y="2642616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20" b="1">
                <a:solidFill>
                  <a:srgbClr val="0E7C7B"/>
                </a:solidFill>
              </a:rPr>
              <a:t>Objective (ii)</a:t>
            </a:r>
          </a:p>
        </p:txBody>
      </p:sp>
      <p:sp>
        <p:nvSpPr>
          <p:cNvPr id="17" name="Objective (ii) body"/>
          <p:cNvSpPr txBox="1"/>
          <p:nvPr/>
        </p:nvSpPr>
        <p:spPr>
          <a:xfrm>
            <a:off x="731520" y="2889504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00">
                <a:solidFill>
                  <a:srgbClr val="1F2933"/>
                </a:solidFill>
              </a:rPr>
              <a:t>Achieve reliable host-device exchange at 1 kHz, assessed by receive rate, packet loss, out-of-order events, and RTT.</a:t>
            </a:r>
          </a:p>
        </p:txBody>
      </p:sp>
      <p:sp>
        <p:nvSpPr>
          <p:cNvPr id="20" name="Objective (iii) card"/>
          <p:cNvSpPr/>
          <p:nvPr/>
        </p:nvSpPr>
        <p:spPr>
          <a:xfrm>
            <a:off x="594360" y="3666744"/>
            <a:ext cx="461772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Objective (iii) label"/>
          <p:cNvSpPr txBox="1"/>
          <p:nvPr/>
        </p:nvSpPr>
        <p:spPr>
          <a:xfrm>
            <a:off x="731520" y="3767328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20" b="1">
                <a:solidFill>
                  <a:srgbClr val="0E7C7B"/>
                </a:solidFill>
              </a:rPr>
              <a:t>Objective (iii)</a:t>
            </a:r>
          </a:p>
        </p:txBody>
      </p:sp>
      <p:sp>
        <p:nvSpPr>
          <p:cNvPr id="22" name="Objective (iii) body"/>
          <p:cNvSpPr txBox="1"/>
          <p:nvPr/>
        </p:nvSpPr>
        <p:spPr>
          <a:xfrm>
            <a:off x="731520" y="4014216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00">
                <a:solidFill>
                  <a:srgbClr val="1F2933"/>
                </a:solidFill>
              </a:rPr>
              <a:t>Show host computation is not the dominant bottleneck by measuring mean closed-loop host latency below 1 ms.</a:t>
            </a:r>
          </a:p>
        </p:txBody>
      </p:sp>
      <p:sp>
        <p:nvSpPr>
          <p:cNvPr id="25" name="Objective (iv) card"/>
          <p:cNvSpPr/>
          <p:nvPr/>
        </p:nvSpPr>
        <p:spPr>
          <a:xfrm>
            <a:off x="5650992" y="1417320"/>
            <a:ext cx="461772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6" name="Objective (iv) label"/>
          <p:cNvSpPr txBox="1"/>
          <p:nvPr/>
        </p:nvSpPr>
        <p:spPr>
          <a:xfrm>
            <a:off x="5788152" y="1517904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20" b="1">
                <a:solidFill>
                  <a:srgbClr val="0E7C7B"/>
                </a:solidFill>
              </a:rPr>
              <a:t>Objective (iv)</a:t>
            </a:r>
          </a:p>
        </p:txBody>
      </p:sp>
      <p:sp>
        <p:nvSpPr>
          <p:cNvPr id="27" name="Objective (iv) body"/>
          <p:cNvSpPr txBox="1"/>
          <p:nvPr/>
        </p:nvSpPr>
        <p:spPr>
          <a:xfrm>
            <a:off x="5788152" y="1764792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00">
                <a:solidFill>
                  <a:srgbClr val="1F2933"/>
                </a:solidFill>
              </a:rPr>
              <a:t>Validate rendered contact quantitatively using force-penetration data, with fitted stiffness within 5 percent of the configured coupling value.</a:t>
            </a:r>
          </a:p>
        </p:txBody>
      </p:sp>
      <p:sp>
        <p:nvSpPr>
          <p:cNvPr id="30" name="Objective (v) card"/>
          <p:cNvSpPr/>
          <p:nvPr/>
        </p:nvSpPr>
        <p:spPr>
          <a:xfrm>
            <a:off x="5650992" y="2542032"/>
            <a:ext cx="461772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" name="Objective (v) label"/>
          <p:cNvSpPr txBox="1"/>
          <p:nvPr/>
        </p:nvSpPr>
        <p:spPr>
          <a:xfrm>
            <a:off x="5788152" y="2642616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20" b="1">
                <a:solidFill>
                  <a:srgbClr val="0E7C7B"/>
                </a:solidFill>
              </a:rPr>
              <a:t>Objective (v)</a:t>
            </a:r>
          </a:p>
        </p:txBody>
      </p:sp>
      <p:sp>
        <p:nvSpPr>
          <p:cNvPr id="32" name="Objective (v) body"/>
          <p:cNvSpPr txBox="1"/>
          <p:nvPr/>
        </p:nvSpPr>
        <p:spPr>
          <a:xfrm>
            <a:off x="5788152" y="2889504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00">
                <a:solidFill>
                  <a:srgbClr val="1F2933"/>
                </a:solidFill>
              </a:rPr>
              <a:t>Verify force saturation, embedded torque limiting, slew-rate limiting, and watchdog torque removal during communication interruption.</a:t>
            </a:r>
          </a:p>
        </p:txBody>
      </p:sp>
      <p:sp>
        <p:nvSpPr>
          <p:cNvPr id="35" name="Objective (vi) card"/>
          <p:cNvSpPr/>
          <p:nvPr/>
        </p:nvSpPr>
        <p:spPr>
          <a:xfrm>
            <a:off x="5650992" y="3666744"/>
            <a:ext cx="4617720" cy="960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6" name="Objective (vi) label"/>
          <p:cNvSpPr txBox="1"/>
          <p:nvPr/>
        </p:nvSpPr>
        <p:spPr>
          <a:xfrm>
            <a:off x="5788152" y="3767328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20" b="1">
                <a:solidFill>
                  <a:srgbClr val="0E7C7B"/>
                </a:solidFill>
              </a:rPr>
              <a:t>Objective (vi)</a:t>
            </a:r>
          </a:p>
        </p:txBody>
      </p:sp>
      <p:sp>
        <p:nvSpPr>
          <p:cNvPr id="37" name="Objective (vi) body"/>
          <p:cNvSpPr txBox="1"/>
          <p:nvPr/>
        </p:nvSpPr>
        <p:spPr>
          <a:xfrm>
            <a:off x="5788152" y="4014216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300">
                <a:solidFill>
                  <a:srgbClr val="1F2933"/>
                </a:solidFill>
              </a:rPr>
              <a:t>Evaluate motor-enabled contact and constrained motion, reporting penetration bounds, command consistency, and multi-axis limitations.</a:t>
            </a:r>
          </a:p>
        </p:txBody>
      </p:sp>
      <p:sp>
        <p:nvSpPr>
          <p:cNvPr id="80" name="Callout"/>
          <p:cNvSpPr/>
          <p:nvPr/>
        </p:nvSpPr>
        <p:spPr>
          <a:xfrm>
            <a:off x="640080" y="5166360"/>
            <a:ext cx="9966960" cy="658368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1" name="Callout text"/>
          <p:cNvSpPr txBox="1"/>
          <p:nvPr/>
        </p:nvSpPr>
        <p:spPr>
          <a:xfrm>
            <a:off x="868680" y="5321808"/>
            <a:ext cx="9464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50" b="1">
                <a:solidFill>
                  <a:srgbClr val="1F2933"/>
                </a:solidFill>
              </a:rPr>
              <a:t>Scope note: final motor-enabled force-feedback validation was limited to one joint after actuator failure.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End-to-End Architecture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The technical contribution is integration across hardware, firmware, communication, simulation, and rendering.</a:t>
            </a:r>
          </a:p>
        </p:txBody>
      </p:sp>
      <p:sp>
        <p:nvSpPr>
          <p:cNvPr id="10" name="Diagram Device"/>
          <p:cNvSpPr/>
          <p:nvPr/>
        </p:nvSpPr>
        <p:spPr>
          <a:xfrm>
            <a:off x="502920" y="1691640"/>
            <a:ext cx="1993392" cy="960120"/>
          </a:xfrm>
          <a:prstGeom prst="roundRect">
            <a:avLst/>
          </a:prstGeom>
          <a:solidFill>
            <a:srgbClr val="E6F2F2"/>
          </a:solidFill>
          <a:ln w="12700">
            <a:solidFill>
              <a:srgbClr val="0E7C7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Diagram text Device"/>
          <p:cNvSpPr txBox="1"/>
          <p:nvPr/>
        </p:nvSpPr>
        <p:spPr>
          <a:xfrm>
            <a:off x="612648" y="1801368"/>
            <a:ext cx="1773936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450" b="1">
                <a:solidFill>
                  <a:srgbClr val="1F2933"/>
                </a:solidFill>
              </a:rPr>
              <a:t>Device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Joint sensing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BLDC torque output</a:t>
            </a:r>
          </a:p>
        </p:txBody>
      </p:sp>
      <p:sp>
        <p:nvSpPr>
          <p:cNvPr id="40" name="Arrow"/>
          <p:cNvSpPr/>
          <p:nvPr/>
        </p:nvSpPr>
        <p:spPr>
          <a:xfrm>
            <a:off x="2514600" y="2084832"/>
            <a:ext cx="146304" cy="11887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Diagram Firmware"/>
          <p:cNvSpPr/>
          <p:nvPr/>
        </p:nvSpPr>
        <p:spPr>
          <a:xfrm>
            <a:off x="2660904" y="1691640"/>
            <a:ext cx="1993392" cy="960120"/>
          </a:xfrm>
          <a:prstGeom prst="roundRect">
            <a:avLst/>
          </a:prstGeom>
          <a:solidFill>
            <a:srgbClr val="E6F2F2"/>
          </a:solidFill>
          <a:ln w="12700">
            <a:solidFill>
              <a:srgbClr val="0E7C7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Diagram text Firmware"/>
          <p:cNvSpPr txBox="1"/>
          <p:nvPr/>
        </p:nvSpPr>
        <p:spPr>
          <a:xfrm>
            <a:off x="2770632" y="1801368"/>
            <a:ext cx="1773936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450" b="1">
                <a:solidFill>
                  <a:srgbClr val="1F2933"/>
                </a:solidFill>
              </a:rPr>
              <a:t>Firmware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STM32 + SimpleFOC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watchdog + slew limit</a:t>
            </a:r>
          </a:p>
        </p:txBody>
      </p:sp>
      <p:sp>
        <p:nvSpPr>
          <p:cNvPr id="41" name="Arrow"/>
          <p:cNvSpPr/>
          <p:nvPr/>
        </p:nvSpPr>
        <p:spPr>
          <a:xfrm>
            <a:off x="4672584" y="2084832"/>
            <a:ext cx="146304" cy="11887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Diagram Serial Link"/>
          <p:cNvSpPr/>
          <p:nvPr/>
        </p:nvSpPr>
        <p:spPr>
          <a:xfrm>
            <a:off x="4818888" y="1691640"/>
            <a:ext cx="1993392" cy="960120"/>
          </a:xfrm>
          <a:prstGeom prst="roundRect">
            <a:avLst/>
          </a:prstGeom>
          <a:solidFill>
            <a:srgbClr val="E6F2F2"/>
          </a:solidFill>
          <a:ln w="12700">
            <a:solidFill>
              <a:srgbClr val="0E7C7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Diagram text Serial Link"/>
          <p:cNvSpPr txBox="1"/>
          <p:nvPr/>
        </p:nvSpPr>
        <p:spPr>
          <a:xfrm>
            <a:off x="4928616" y="1801368"/>
            <a:ext cx="1773936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450" b="1">
                <a:solidFill>
                  <a:srgbClr val="1F2933"/>
                </a:solidFill>
              </a:rPr>
              <a:t>Serial Link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Packet protocol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COM4, 460800 baud</a:t>
            </a:r>
          </a:p>
        </p:txBody>
      </p:sp>
      <p:sp>
        <p:nvSpPr>
          <p:cNvPr id="42" name="Arrow"/>
          <p:cNvSpPr/>
          <p:nvPr/>
        </p:nvSpPr>
        <p:spPr>
          <a:xfrm>
            <a:off x="6830568" y="2084832"/>
            <a:ext cx="146304" cy="11887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Diagram Host App"/>
          <p:cNvSpPr/>
          <p:nvPr/>
        </p:nvSpPr>
        <p:spPr>
          <a:xfrm>
            <a:off x="6976872" y="1691640"/>
            <a:ext cx="1993392" cy="960120"/>
          </a:xfrm>
          <a:prstGeom prst="roundRect">
            <a:avLst/>
          </a:prstGeom>
          <a:solidFill>
            <a:srgbClr val="E6F2F2"/>
          </a:solidFill>
          <a:ln w="12700">
            <a:solidFill>
              <a:srgbClr val="0E7C7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Diagram text Host App"/>
          <p:cNvSpPr txBox="1"/>
          <p:nvPr/>
        </p:nvSpPr>
        <p:spPr>
          <a:xfrm>
            <a:off x="7086600" y="1801368"/>
            <a:ext cx="1773936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450" b="1">
                <a:solidFill>
                  <a:srgbClr val="1F2933"/>
                </a:solidFill>
              </a:rPr>
              <a:t>Host App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C++17 threads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OpenGL + PhysX + haptics</a:t>
            </a:r>
          </a:p>
        </p:txBody>
      </p:sp>
      <p:sp>
        <p:nvSpPr>
          <p:cNvPr id="43" name="Arrow"/>
          <p:cNvSpPr/>
          <p:nvPr/>
        </p:nvSpPr>
        <p:spPr>
          <a:xfrm>
            <a:off x="8988552" y="2084832"/>
            <a:ext cx="146304" cy="118872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Diagram Feedback"/>
          <p:cNvSpPr/>
          <p:nvPr/>
        </p:nvSpPr>
        <p:spPr>
          <a:xfrm>
            <a:off x="9134856" y="1691640"/>
            <a:ext cx="1993392" cy="960120"/>
          </a:xfrm>
          <a:prstGeom prst="roundRect">
            <a:avLst/>
          </a:prstGeom>
          <a:solidFill>
            <a:srgbClr val="E6F2F2"/>
          </a:solidFill>
          <a:ln w="12700">
            <a:solidFill>
              <a:srgbClr val="0E7C7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Diagram text Feedback"/>
          <p:cNvSpPr txBox="1"/>
          <p:nvPr/>
        </p:nvSpPr>
        <p:spPr>
          <a:xfrm>
            <a:off x="9244584" y="1801368"/>
            <a:ext cx="1773936" cy="7955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450" b="1">
                <a:solidFill>
                  <a:srgbClr val="1F2933"/>
                </a:solidFill>
              </a:rPr>
              <a:t>Feedback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Jacobian torque map</a:t>
            </a:r>
          </a:p>
          <a:p>
            <a:pPr marL="0" indent="0"/>
            <a:r>
              <a:rPr lang="en-GB" sz="1450">
                <a:solidFill>
                  <a:srgbClr val="1F2933"/>
                </a:solidFill>
              </a:rPr>
              <a:t>force returns to user</a:t>
            </a:r>
          </a:p>
        </p:txBody>
      </p:sp>
      <p:sp>
        <p:nvSpPr>
          <p:cNvPr id="50" name="Bullets"/>
          <p:cNvSpPr txBox="1"/>
          <p:nvPr/>
        </p:nvSpPr>
        <p:spPr>
          <a:xfrm>
            <a:off x="777240" y="3246120"/>
            <a:ext cx="9692640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100">
                <a:solidFill>
                  <a:srgbClr val="1F2933"/>
                </a:solidFill>
              </a:rPr>
              <a:t>- Haptic and device loops target 1 kHz</a:t>
            </a:r>
          </a:p>
          <a:p>
            <a:pPr marL="0" indent="0"/>
            <a:r>
              <a:rPr lang="en-GB" sz="2100">
                <a:solidFill>
                  <a:srgbClr val="1F2933"/>
                </a:solidFill>
              </a:rPr>
              <a:t>- PhysX simulation and visualisation are decoupled from haptic rendering</a:t>
            </a:r>
          </a:p>
          <a:p>
            <a:pPr marL="0" indent="0"/>
            <a:r>
              <a:rPr lang="en-GB" sz="2100">
                <a:solidFill>
                  <a:srgbClr val="1F2933"/>
                </a:solidFill>
              </a:rPr>
              <a:t>- Snapshot channels avoid stale queue buildup under bursty packet delivery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Physical Prototype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A custom two-link planar interface was built around low-cost sensing and BLDC actuation.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94360" y="1554480"/>
            <a:ext cx="4572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050">
                <a:solidFill>
                  <a:srgbClr val="1F2933"/>
                </a:solidFill>
              </a:rPr>
              <a:t>- Two-link planar mechanism with magnetic encoders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BLDC gimbal motors with belt-driven base joint for torque amplification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STM32 Nucleo-G431RB firmware with watchdog torque removal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Designed for experimental transparency rather than commercial polish</a:t>
            </a:r>
          </a:p>
        </p:txBody>
      </p:sp>
      <p:pic>
        <p:nvPicPr>
          <p:cNvPr id="11" name="final_build_pic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5532120" y="1353312"/>
            <a:ext cx="5166360" cy="3886200"/>
          </a:xfrm>
          <a:prstGeom prst="rect">
            <a:avLst/>
          </a:prstGeom>
        </p:spPr>
      </p:pic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Haptic Rendering Implementation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Contact is rendered with a proxy method and virtual spring-damper coupling.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685800" y="1572768"/>
            <a:ext cx="9646920" cy="3063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150">
                <a:solidFill>
                  <a:srgbClr val="1F2933"/>
                </a:solidFill>
              </a:rPr>
              <a:t>- Signed distance functions identify surface penetration and normals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A proxy is constrained to the surface during contact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Virtual coupling force: F = K(x_p - x_d) + D(v_p - v_d)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Cartesian force is mapped to actuator torque using tau = J^T F</a:t>
            </a:r>
          </a:p>
        </p:txBody>
      </p:sp>
      <p:sp>
        <p:nvSpPr>
          <p:cNvPr id="80" name="Callout"/>
          <p:cNvSpPr/>
          <p:nvPr/>
        </p:nvSpPr>
        <p:spPr>
          <a:xfrm>
            <a:off x="640080" y="5166360"/>
            <a:ext cx="9966960" cy="658368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1" name="Callout text"/>
          <p:cNvSpPr txBox="1"/>
          <p:nvPr/>
        </p:nvSpPr>
        <p:spPr>
          <a:xfrm>
            <a:off x="868680" y="5321808"/>
            <a:ext cx="9464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50" b="1">
                <a:solidFill>
                  <a:srgbClr val="1F2933"/>
                </a:solidFill>
              </a:rPr>
              <a:t>Practical stability comes from damping, saturation, slew limiting, and latest-state communication.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Communication and Host Timing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The system achieved throughput near 1 kHz, but round-trip delay dominated the loop.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94360" y="1554480"/>
            <a:ext cx="4572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050">
                <a:solidFill>
                  <a:srgbClr val="1F2933"/>
                </a:solidFill>
              </a:rPr>
              <a:t>- Packet streaming at about 1 kHz in the tested configuration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Measured RTT: 15.60-15.67 ms across tested intervals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Host-side processing: 0.299 ms mean, 2.04 ms at 99th percentile</a:t>
            </a:r>
          </a:p>
          <a:p>
            <a:pPr marL="0" indent="0"/>
            <a:r>
              <a:rPr lang="en-GB" sz="2050">
                <a:solidFill>
                  <a:srgbClr val="1F2933"/>
                </a:solidFill>
              </a:rPr>
              <a:t>- Conclusion: transport delay is the bottleneck, not host computation</a:t>
            </a:r>
          </a:p>
        </p:txBody>
      </p:sp>
      <p:pic>
        <p:nvPicPr>
          <p:cNvPr id="11" name="host_latency_distribu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532120" y="1353312"/>
            <a:ext cx="5166360" cy="3886200"/>
          </a:xfrm>
          <a:prstGeom prst="rect">
            <a:avLst/>
          </a:prstGeom>
        </p:spPr>
      </p:pic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Contact Model Validation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Logged rendered-force data matched the configured virtual coupling stiffness closely.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94360" y="1572768"/>
            <a:ext cx="4206240" cy="3063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000">
                <a:solidFill>
                  <a:srgbClr val="1F2933"/>
                </a:solidFill>
              </a:rPr>
              <a:t>- Configured stiffness: 500 N m^-1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Fitted stiffness: 489.57 N m^-1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Fit quality: R^2 = 0.9973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Deep penetration force saturation occurs at about 31 N</a:t>
            </a:r>
          </a:p>
        </p:txBody>
      </p:sp>
      <p:pic>
        <p:nvPicPr>
          <p:cNvPr id="11" name="force_penetration_fi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983480" y="1353312"/>
            <a:ext cx="2834640" cy="2148840"/>
          </a:xfrm>
          <a:prstGeom prst="rect">
            <a:avLst/>
          </a:prstGeom>
        </p:spPr>
      </p:pic>
      <p:pic>
        <p:nvPicPr>
          <p:cNvPr id="12" name="force_saturation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73568" y="1353312"/>
            <a:ext cx="2834640" cy="2148840"/>
          </a:xfrm>
          <a:prstGeom prst="rect">
            <a:avLst/>
          </a:prstGeom>
        </p:spPr>
      </p:pic>
      <p:sp>
        <p:nvSpPr>
          <p:cNvPr id="13" name="Evidence band"/>
          <p:cNvSpPr/>
          <p:nvPr/>
        </p:nvSpPr>
        <p:spPr>
          <a:xfrm>
            <a:off x="4983480" y="3794760"/>
            <a:ext cx="5824728" cy="1325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Evidence note"/>
          <p:cNvSpPr txBox="1"/>
          <p:nvPr/>
        </p:nvSpPr>
        <p:spPr>
          <a:xfrm>
            <a:off x="5230368" y="4005072"/>
            <a:ext cx="53492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850">
                <a:solidFill>
                  <a:srgbClr val="5C6670"/>
                </a:solidFill>
              </a:rPr>
              <a:t>Evidence slides use local report figures copied into assets/.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Safety Validation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The device was evaluated with explicit limits for force, torque change, and communication loss.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94360" y="1572768"/>
            <a:ext cx="4206240" cy="3063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000">
                <a:solidFill>
                  <a:srgbClr val="1F2933"/>
                </a:solidFill>
              </a:rPr>
              <a:t>- Force clamp limits commanded interaction force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Firmware torque slew-rate bound: about 55 N m s^-1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Watchdog removed torque during interrupted host command transmission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Safety controls are central because latency can excite contact oscillations</a:t>
            </a:r>
          </a:p>
        </p:txBody>
      </p:sp>
      <p:pic>
        <p:nvPicPr>
          <p:cNvPr id="11" name="watchdog_valida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983480" y="1353312"/>
            <a:ext cx="2834640" cy="2148840"/>
          </a:xfrm>
          <a:prstGeom prst="rect">
            <a:avLst/>
          </a:prstGeom>
        </p:spPr>
      </p:pic>
      <p:pic>
        <p:nvPicPr>
          <p:cNvPr id="12" name="slew_rate_histogram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73568" y="1353312"/>
            <a:ext cx="2834640" cy="2148840"/>
          </a:xfrm>
          <a:prstGeom prst="rect">
            <a:avLst/>
          </a:prstGeom>
        </p:spPr>
      </p:pic>
      <p:sp>
        <p:nvSpPr>
          <p:cNvPr id="13" name="Evidence band"/>
          <p:cNvSpPr/>
          <p:nvPr/>
        </p:nvSpPr>
        <p:spPr>
          <a:xfrm>
            <a:off x="4983480" y="3794760"/>
            <a:ext cx="5824728" cy="1325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Evidence note"/>
          <p:cNvSpPr txBox="1"/>
          <p:nvPr/>
        </p:nvSpPr>
        <p:spPr>
          <a:xfrm>
            <a:off x="5230368" y="4005072"/>
            <a:ext cx="53492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850">
                <a:solidFill>
                  <a:srgbClr val="5C6670"/>
                </a:solidFill>
              </a:rPr>
              <a:t>Evidence slides use local report figures copied into assets/.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Hardware Interaction Results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Motor-enabled tests showed bounded contact and constrained motion within final hardware limits.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94360" y="1572768"/>
            <a:ext cx="4206240" cy="3063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000">
                <a:solidFill>
                  <a:srgbClr val="1F2933"/>
                </a:solidFill>
              </a:rPr>
              <a:t>- Repeated contact with a virtual wall showed bounded penetration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Constrained-motion test kept the proxy aligned to the virtual wall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Results support usable interaction, not calibrated commercial-grade force rendering</a:t>
            </a:r>
          </a:p>
          <a:p>
            <a:pPr marL="0" indent="0"/>
            <a:r>
              <a:rPr lang="en-GB" sz="2000">
                <a:solidFill>
                  <a:srgbClr val="1F2933"/>
                </a:solidFill>
              </a:rPr>
              <a:t>- Generalisation to full 2-DOF feedback remains limited by final actuator state</a:t>
            </a:r>
          </a:p>
        </p:txBody>
      </p:sp>
      <p:pic>
        <p:nvPicPr>
          <p:cNvPr id="11" name="motor_contact_penetration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983480" y="1353312"/>
            <a:ext cx="2834640" cy="2148840"/>
          </a:xfrm>
          <a:prstGeom prst="rect">
            <a:avLst/>
          </a:prstGeom>
        </p:spPr>
      </p:pic>
      <p:pic>
        <p:nvPicPr>
          <p:cNvPr id="12" name="constrained_motion_traj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973568" y="1353312"/>
            <a:ext cx="2834640" cy="2148840"/>
          </a:xfrm>
          <a:prstGeom prst="rect">
            <a:avLst/>
          </a:prstGeom>
        </p:spPr>
      </p:pic>
      <p:sp>
        <p:nvSpPr>
          <p:cNvPr id="13" name="Evidence band"/>
          <p:cNvSpPr/>
          <p:nvPr/>
        </p:nvSpPr>
        <p:spPr>
          <a:xfrm>
            <a:off x="4983480" y="3794760"/>
            <a:ext cx="5824728" cy="13258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E2EC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Evidence note"/>
          <p:cNvSpPr txBox="1"/>
          <p:nvPr/>
        </p:nvSpPr>
        <p:spPr>
          <a:xfrm>
            <a:off x="5230368" y="4005072"/>
            <a:ext cx="534924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850">
                <a:solidFill>
                  <a:srgbClr val="5C6670"/>
                </a:solidFill>
              </a:rPr>
              <a:t>Evidence slides use local report figures copied into assets/.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Critical Discussion and Future Work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The project succeeds as a measured prototype and identifies the next engineering bottlenecks.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685800" y="1572768"/>
            <a:ext cx="9646920" cy="3063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150">
                <a:solidFill>
                  <a:srgbClr val="1F2933"/>
                </a:solidFill>
              </a:rPr>
              <a:t>- Dominant limitation: ST-Link virtual COM buffering/scheduling delay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Hardware limits: finite torque, no current sensing, belt slip, one-axis final actuation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Next step: lower-latency transport through native USB, dedicated USB-UART, CAN, or Ethernet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Then add current sensing, improved transmission, restored 2-DOF actuation, and user/task studies</a:t>
            </a:r>
          </a:p>
        </p:txBody>
      </p:sp>
      <p:sp>
        <p:nvSpPr>
          <p:cNvPr id="80" name="Callout"/>
          <p:cNvSpPr/>
          <p:nvPr/>
        </p:nvSpPr>
        <p:spPr>
          <a:xfrm>
            <a:off x="640080" y="5166360"/>
            <a:ext cx="9966960" cy="658368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1" name="Callout text"/>
          <p:cNvSpPr txBox="1"/>
          <p:nvPr/>
        </p:nvSpPr>
        <p:spPr>
          <a:xfrm>
            <a:off x="868680" y="5321808"/>
            <a:ext cx="9464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50" b="1">
                <a:solidFill>
                  <a:srgbClr val="1F2933"/>
                </a:solidFill>
              </a:rPr>
              <a:t>The most useful result is knowing where the system actually fails.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d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7955279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3050" b="1">
                <a:solidFill>
                  <a:srgbClr val="0F4C81"/>
                </a:solidFill>
              </a:rPr>
              <a:t>Final Demonstration Handoff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30352" y="89611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00">
                <a:solidFill>
                  <a:srgbClr val="5C6670"/>
                </a:solidFill>
              </a:rPr>
              <a:t>Live demo first; fallback media ready so the assessment stays focused on evidence.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685800" y="1572768"/>
            <a:ext cx="9646920" cy="3063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2150">
                <a:solidFill>
                  <a:srgbClr val="1F2933"/>
                </a:solidFill>
              </a:rPr>
              <a:t>- Live path: launch build\Debug\app.exe and show tool/proxy/contact behaviour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Show gentle contact with the virtual wall/object and bounded response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Fallback path: assets/fallback_kinematics_demo.mp4 plus result plots</a:t>
            </a:r>
          </a:p>
          <a:p>
            <a:pPr marL="0" indent="0"/>
            <a:r>
              <a:rPr lang="en-GB" sz="2150">
                <a:solidFill>
                  <a:srgbClr val="1F2933"/>
                </a:solidFill>
              </a:rPr>
              <a:t>- Do not recompile, flash firmware, or debug live for more than about 20 seconds</a:t>
            </a:r>
          </a:p>
        </p:txBody>
      </p:sp>
      <p:sp>
        <p:nvSpPr>
          <p:cNvPr id="80" name="Callout"/>
          <p:cNvSpPr/>
          <p:nvPr/>
        </p:nvSpPr>
        <p:spPr>
          <a:xfrm>
            <a:off x="640080" y="5166360"/>
            <a:ext cx="9966960" cy="658368"/>
          </a:xfrm>
          <a:prstGeom prst="roundRect">
            <a:avLst/>
          </a:prstGeom>
          <a:solidFill>
            <a:srgbClr val="FFF4E0"/>
          </a:solidFill>
          <a:ln w="12700">
            <a:solidFill>
              <a:srgbClr val="D99A2B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1" name="Callout text"/>
          <p:cNvSpPr txBox="1"/>
          <p:nvPr/>
        </p:nvSpPr>
        <p:spPr>
          <a:xfrm>
            <a:off x="868680" y="5321808"/>
            <a:ext cx="9464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750" b="1">
                <a:solidFill>
                  <a:srgbClr val="1F2933"/>
                </a:solidFill>
              </a:rPr>
              <a:t>Closing line: the loop is working, instrumented, and bounded; fidelity is limited by measured transport delay.</a:t>
            </a:r>
          </a:p>
        </p:txBody>
      </p:sp>
      <p:sp>
        <p:nvSpPr>
          <p:cNvPr id="90" name="Slide number"/>
          <p:cNvSpPr txBox="1"/>
          <p:nvPr/>
        </p:nvSpPr>
        <p:spPr>
          <a:xfrm>
            <a:off x="10378440" y="5806440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/>
            <a:r>
              <a:rPr lang="en-GB" sz="1100">
                <a:solidFill>
                  <a:srgbClr val="5C6670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Demonstration Presentation</dc:title>
  <dc:creator>Codex</dc:creator>
  <cp:lastModifiedBy>Tyler Ward</cp:lastModifiedBy>
  <cp:revision>1</cp:revision>
  <dcterms:created xsi:type="dcterms:W3CDTF">2026-05-04T00:00:00Z</dcterms:created>
  <dcterms:modified xsi:type="dcterms:W3CDTF">2026-05-04T13:38:26Z</dcterms:modified>
</cp:coreProperties>
</file>
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 / Render thread"/>
          <p:cNvSpPr/>
          <p:nvPr/>
        </p:nvSpPr>
        <p:spPr>
          <a:xfrm>
            <a:off x="609600" y="1447800"/>
            <a:ext cx="21336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t"/>
          <a:lstStyle/>
          <a:p>
            <a:pPr algn="ctr"/>
            <a:r>
              <a:rPr lang="en-GB" sz="1600" b="1" dirty="0">
                <a:solidFill>
                  <a:srgbClr val="172033"/>
                </a:solidFill>
                <a:latin typeface="Arial"/>
              </a:rPr>
              <a:t>Main / Render</a:t>
            </a:r>
          </a:p>
          <a:p>
            <a:pPr algn="ctr"/>
            <a:r>
              <a:rPr lang="en-GB" sz="1400" dirty="0">
                <a:solidFill>
                  <a:srgbClr val="546071"/>
                </a:solidFill>
                <a:latin typeface="Arial"/>
              </a:rPr>
              <a:t>OpenGL, ImGui,</a:t>
            </a:r>
          </a:p>
          <a:p>
            <a:pPr algn="ctr"/>
            <a:r>
              <a:rPr lang="en-GB" sz="1400" dirty="0">
                <a:solidFill>
                  <a:srgbClr val="546071"/>
                </a:solidFill>
                <a:latin typeface="Arial"/>
              </a:rPr>
              <a:t>viewport display</a:t>
            </a:r>
          </a:p>
        </p:txBody>
      </p:sp>
      <p:sp>
        <p:nvSpPr>
          <p:cNvPr id="5" name="Simulation thread"/>
          <p:cNvSpPr/>
          <p:nvPr/>
        </p:nvSpPr>
        <p:spPr>
          <a:xfrm>
            <a:off x="4267200" y="1447800"/>
            <a:ext cx="24384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t"/>
          <a:lstStyle/>
          <a:p>
            <a:pPr algn="ctr"/>
            <a:r>
              <a:rPr lang="en-GB" b="1" dirty="0">
                <a:solidFill>
                  <a:srgbClr val="172033"/>
                </a:solidFill>
                <a:latin typeface="Arial"/>
              </a:rPr>
              <a:t>Simulation</a:t>
            </a:r>
          </a:p>
          <a:p>
            <a:pPr algn="ctr"/>
            <a:r>
              <a:rPr lang="en-GB" sz="1100" dirty="0">
                <a:solidFill>
                  <a:srgbClr val="546071"/>
                </a:solidFill>
                <a:latin typeface="Arial"/>
              </a:rPr>
              <a:t>WorldManager + PhysX</a:t>
            </a:r>
          </a:p>
          <a:p>
            <a:pPr algn="ctr"/>
            <a:r>
              <a:rPr lang="en-GB" sz="1100" dirty="0">
                <a:solidFill>
                  <a:srgbClr val="546071"/>
                </a:solidFill>
                <a:latin typeface="Arial"/>
              </a:rPr>
              <a:t>object state authority</a:t>
            </a:r>
          </a:p>
        </p:txBody>
      </p:sp>
      <p:sp>
        <p:nvSpPr>
          <p:cNvPr id="6" name="Haptic thread"/>
          <p:cNvSpPr/>
          <p:nvPr/>
        </p:nvSpPr>
        <p:spPr>
          <a:xfrm>
            <a:off x="8534400" y="1447800"/>
            <a:ext cx="22860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t"/>
          <a:lstStyle/>
          <a:p>
            <a:pPr algn="ctr"/>
            <a:r>
              <a:rPr lang="en-GB" b="1" dirty="0">
                <a:solidFill>
                  <a:srgbClr val="172033"/>
                </a:solidFill>
                <a:latin typeface="Arial"/>
              </a:rPr>
              <a:t>Haptic</a:t>
            </a:r>
            <a:endParaRPr lang="en-GB" sz="2500" b="1" dirty="0">
              <a:solidFill>
                <a:srgbClr val="172033"/>
              </a:solidFill>
              <a:latin typeface="Arial"/>
            </a:endParaRPr>
          </a:p>
          <a:p>
            <a:pPr algn="ctr"/>
            <a:r>
              <a:rPr lang="en-GB" sz="1200" dirty="0">
                <a:solidFill>
                  <a:srgbClr val="546071"/>
                </a:solidFill>
                <a:latin typeface="Arial"/>
              </a:rPr>
              <a:t>1 kHz SDF contact</a:t>
            </a:r>
          </a:p>
          <a:p>
            <a:pPr algn="ctr"/>
            <a:r>
              <a:rPr lang="en-GB" sz="1200" dirty="0">
                <a:solidFill>
                  <a:srgbClr val="546071"/>
                </a:solidFill>
                <a:latin typeface="Arial"/>
              </a:rPr>
              <a:t>virtual coupling</a:t>
            </a:r>
          </a:p>
        </p:txBody>
      </p:sp>
      <p:sp>
        <p:nvSpPr>
          <p:cNvPr id="7" name="Device thread"/>
          <p:cNvSpPr/>
          <p:nvPr/>
        </p:nvSpPr>
        <p:spPr>
          <a:xfrm>
            <a:off x="7490460" y="4503420"/>
            <a:ext cx="22860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t"/>
          <a:lstStyle/>
          <a:p>
            <a:pPr algn="ctr"/>
            <a:r>
              <a:rPr lang="en-GB" b="1" dirty="0">
                <a:solidFill>
                  <a:srgbClr val="172033"/>
                </a:solidFill>
                <a:latin typeface="Arial"/>
              </a:rPr>
              <a:t>Device</a:t>
            </a:r>
          </a:p>
          <a:p>
            <a:pPr algn="ctr"/>
            <a:r>
              <a:rPr lang="en-GB" sz="1200" dirty="0">
                <a:solidFill>
                  <a:srgbClr val="546071"/>
                </a:solidFill>
                <a:latin typeface="Arial"/>
              </a:rPr>
              <a:t>1 kHz serial bridge</a:t>
            </a:r>
          </a:p>
          <a:p>
            <a:pPr algn="ctr"/>
            <a:r>
              <a:rPr lang="en-GB" sz="1200" dirty="0">
                <a:solidFill>
                  <a:srgbClr val="546071"/>
                </a:solidFill>
                <a:latin typeface="Arial"/>
              </a:rPr>
              <a:t>FK + torque mapping</a:t>
            </a:r>
          </a:p>
        </p:txBody>
      </p:sp>
      <p:sp>
        <p:nvSpPr>
          <p:cNvPr id="8" name="Log thread"/>
          <p:cNvSpPr/>
          <p:nvPr/>
        </p:nvSpPr>
        <p:spPr>
          <a:xfrm>
            <a:off x="1562100" y="4274820"/>
            <a:ext cx="24384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t"/>
          <a:lstStyle/>
          <a:p>
            <a:pPr algn="ctr"/>
            <a:r>
              <a:rPr lang="en-GB" b="1" dirty="0">
                <a:solidFill>
                  <a:srgbClr val="172033"/>
                </a:solidFill>
                <a:latin typeface="Arial"/>
              </a:rPr>
              <a:t>Log</a:t>
            </a:r>
          </a:p>
          <a:p>
            <a:pPr algn="ctr"/>
            <a:r>
              <a:rPr lang="en-GB" sz="1400" dirty="0">
                <a:solidFill>
                  <a:srgbClr val="546071"/>
                </a:solidFill>
                <a:latin typeface="Arial"/>
              </a:rPr>
              <a:t>non-blocking drain</a:t>
            </a:r>
          </a:p>
          <a:p>
            <a:pPr algn="ctr"/>
            <a:r>
              <a:rPr lang="en-GB" sz="1400" dirty="0">
                <a:solidFill>
                  <a:srgbClr val="546071"/>
                </a:solidFill>
                <a:latin typeface="Arial"/>
              </a:rPr>
              <a:t>CSV output on shutdown</a:t>
            </a:r>
          </a:p>
        </p:txBody>
      </p:sp>
      <p:sp>
        <p:nvSpPr>
          <p:cNvPr id="9" name="STM32 firmware"/>
          <p:cNvSpPr/>
          <p:nvPr/>
        </p:nvSpPr>
        <p:spPr>
          <a:xfrm>
            <a:off x="10557510" y="4690110"/>
            <a:ext cx="723900" cy="952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2860">
            <a:solidFill>
              <a:srgbClr val="7030A0"/>
            </a:solidFill>
          </a:ln>
        </p:spPr>
        <p:txBody>
          <a:bodyPr wrap="square" anchor="t"/>
          <a:lstStyle/>
          <a:p>
            <a:pPr algn="ctr"/>
            <a:r>
              <a:rPr lang="en-GB" sz="1400" b="1" dirty="0">
                <a:solidFill>
                  <a:srgbClr val="172033"/>
                </a:solidFill>
                <a:latin typeface="Arial"/>
              </a:rPr>
              <a:t>MCU</a:t>
            </a:r>
          </a:p>
          <a:p>
            <a:pPr algn="ctr"/>
            <a:r>
              <a:rPr lang="en-GB" sz="1100" dirty="0">
                <a:solidFill>
                  <a:srgbClr val="546071"/>
                </a:solidFill>
                <a:latin typeface="Arial"/>
              </a:rPr>
              <a:t>state</a:t>
            </a:r>
          </a:p>
          <a:p>
            <a:pPr algn="ctr"/>
            <a:r>
              <a:rPr lang="en-GB" sz="1100" dirty="0">
                <a:solidFill>
                  <a:srgbClr val="546071"/>
                </a:solidFill>
                <a:latin typeface="Arial"/>
              </a:rPr>
              <a:t>torque</a:t>
            </a:r>
          </a:p>
        </p:txBody>
      </p:sp>
      <p:sp>
        <p:nvSpPr>
          <p:cNvPr id="10" name="world.commands"/>
          <p:cNvSpPr/>
          <p:nvPr/>
        </p:nvSpPr>
        <p:spPr>
          <a:xfrm>
            <a:off x="3032760" y="1600200"/>
            <a:ext cx="952500" cy="64770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t"/>
          <a:lstStyle/>
          <a:p>
            <a:pPr algn="ctr"/>
            <a:r>
              <a:rPr lang="en-GB" sz="1700" b="1" dirty="0">
                <a:solidFill>
                  <a:srgbClr val="172033"/>
                </a:solidFill>
                <a:latin typeface="Arial"/>
              </a:rPr>
              <a:t>World</a:t>
            </a:r>
          </a:p>
          <a:p>
            <a:pPr algn="ctr"/>
            <a:r>
              <a:rPr lang="en-GB" sz="1050" dirty="0">
                <a:solidFill>
                  <a:srgbClr val="4D5969"/>
                </a:solidFill>
                <a:latin typeface="Arial"/>
              </a:rPr>
              <a:t>commands</a:t>
            </a:r>
          </a:p>
          <a:p>
            <a:pPr algn="ctr"/>
            <a:r>
              <a:rPr lang="en-GB" sz="1050" dirty="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2" name="haptics.wrenches"/>
          <p:cNvSpPr/>
          <p:nvPr/>
        </p:nvSpPr>
        <p:spPr>
          <a:xfrm>
            <a:off x="7048500" y="1600200"/>
            <a:ext cx="1143000" cy="64770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t"/>
          <a:lstStyle/>
          <a:p>
            <a:pPr algn="ctr"/>
            <a:r>
              <a:rPr lang="en-GB" sz="1400" b="1" dirty="0">
                <a:solidFill>
                  <a:srgbClr val="172033"/>
                </a:solidFill>
                <a:latin typeface="Arial"/>
              </a:rPr>
              <a:t>Object</a:t>
            </a:r>
          </a:p>
          <a:p>
            <a:pPr algn="ctr"/>
            <a:r>
              <a:rPr lang="en-GB" sz="1100" dirty="0">
                <a:solidFill>
                  <a:srgbClr val="4D5969"/>
                </a:solidFill>
                <a:latin typeface="Arial"/>
              </a:rPr>
              <a:t>wrench</a:t>
            </a:r>
          </a:p>
          <a:p>
            <a:pPr algn="ctr"/>
            <a:r>
              <a:rPr lang="en-GB" sz="1100" dirty="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3" name="haptics.snapshots"/>
          <p:cNvSpPr/>
          <p:nvPr/>
        </p:nvSpPr>
        <p:spPr>
          <a:xfrm>
            <a:off x="4287012" y="2983230"/>
            <a:ext cx="2628900" cy="7886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txBody>
          <a:bodyPr wrap="square" anchor="t"/>
          <a:lstStyle/>
          <a:p>
            <a:pPr algn="ctr"/>
            <a:r>
              <a:rPr lang="en-GB" sz="1600" b="1" dirty="0">
                <a:solidFill>
                  <a:srgbClr val="172033"/>
                </a:solidFill>
                <a:latin typeface="Arial"/>
              </a:rPr>
              <a:t>Haptic debug snapshots</a:t>
            </a:r>
          </a:p>
          <a:p>
            <a:pPr algn="ctr"/>
            <a:r>
              <a:rPr lang="en-GB" sz="1100" dirty="0">
                <a:solidFill>
                  <a:srgbClr val="4D5969"/>
                </a:solidFill>
                <a:latin typeface="Arial"/>
              </a:rPr>
              <a:t>device pose, proxy pose, display force</a:t>
            </a:r>
          </a:p>
          <a:p>
            <a:pPr algn="ctr"/>
            <a:r>
              <a:rPr lang="en-GB" sz="1100" dirty="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6" name="logging channels"/>
          <p:cNvSpPr/>
          <p:nvPr/>
        </p:nvSpPr>
        <p:spPr>
          <a:xfrm>
            <a:off x="4853178" y="4541520"/>
            <a:ext cx="1295400" cy="624840"/>
          </a:xfrm>
          <a:prstGeom prst="roundRect">
            <a:avLst/>
          </a:prstGeom>
          <a:solidFill>
            <a:srgbClr val="FFF1DF"/>
          </a:solidFill>
          <a:ln w="19050">
            <a:solidFill>
              <a:srgbClr val="A46316"/>
            </a:solidFill>
          </a:ln>
        </p:spPr>
        <p:txBody>
          <a:bodyPr wrap="square" anchor="t"/>
          <a:lstStyle/>
          <a:p>
            <a:pPr algn="ctr"/>
            <a:r>
              <a:rPr lang="en-GB" sz="1600" b="1" dirty="0">
                <a:solidFill>
                  <a:srgbClr val="172033"/>
                </a:solidFill>
                <a:latin typeface="Arial"/>
              </a:rPr>
              <a:t>Logging</a:t>
            </a:r>
          </a:p>
          <a:p>
            <a:pPr algn="ctr"/>
            <a:r>
              <a:rPr lang="en-GB" sz="1050" dirty="0">
                <a:solidFill>
                  <a:srgbClr val="4D5969"/>
                </a:solidFill>
                <a:latin typeface="Arial"/>
              </a:rPr>
              <a:t>timing, state,</a:t>
            </a:r>
          </a:p>
          <a:p>
            <a:pPr algn="ctr"/>
            <a:r>
              <a:rPr lang="en-GB" sz="1050" dirty="0">
                <a:solidFill>
                  <a:srgbClr val="4D5969"/>
                </a:solidFill>
                <a:latin typeface="Arial"/>
              </a:rPr>
              <a:t>validation</a:t>
            </a:r>
          </a:p>
        </p:txBody>
      </p:sp>
      <p:cxnSp>
        <p:nvCxnSpPr>
          <p:cNvPr id="17" name="render to world.commands"/>
          <p:cNvCxnSpPr/>
          <p:nvPr/>
        </p:nvCxnSpPr>
        <p:spPr>
          <a:xfrm>
            <a:off x="2743200" y="1920240"/>
            <a:ext cx="28956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18" name="world.commands to simulation"/>
          <p:cNvCxnSpPr/>
          <p:nvPr/>
        </p:nvCxnSpPr>
        <p:spPr>
          <a:xfrm>
            <a:off x="3985260" y="1920240"/>
            <a:ext cx="28194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19" name="simulation publishes world snapshots 1"/>
          <p:cNvCxnSpPr>
            <a:cxnSpLocks/>
            <a:endCxn id="11" idx="2"/>
          </p:cNvCxnSpPr>
          <p:nvPr/>
        </p:nvCxnSpPr>
        <p:spPr>
          <a:xfrm flipV="1">
            <a:off x="5794245" y="1082039"/>
            <a:ext cx="0" cy="365761"/>
          </a:xfrm>
          <a:prstGeom prst="line">
            <a:avLst/>
          </a:prstGeom>
          <a:ln w="22860">
            <a:solidFill>
              <a:srgbClr val="2F7D3B"/>
            </a:solidFill>
            <a:tailEnd type="triangle"/>
          </a:ln>
        </p:spPr>
      </p:cxnSp>
      <p:cxnSp>
        <p:nvCxnSpPr>
          <p:cNvPr id="20" name="world snapshots to render 1"/>
          <p:cNvCxnSpPr>
            <a:cxnSpLocks/>
          </p:cNvCxnSpPr>
          <p:nvPr/>
        </p:nvCxnSpPr>
        <p:spPr>
          <a:xfrm flipV="1">
            <a:off x="4655820" y="889635"/>
            <a:ext cx="0" cy="38862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1" name="world snapshots to render 2"/>
          <p:cNvCxnSpPr>
            <a:cxnSpLocks/>
          </p:cNvCxnSpPr>
          <p:nvPr/>
        </p:nvCxnSpPr>
        <p:spPr>
          <a:xfrm flipH="1">
            <a:off x="1676400" y="1249680"/>
            <a:ext cx="2979420" cy="1524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2" name="world snapshots to render 3"/>
          <p:cNvCxnSpPr/>
          <p:nvPr/>
        </p:nvCxnSpPr>
        <p:spPr>
          <a:xfrm>
            <a:off x="1676400" y="1257300"/>
            <a:ext cx="7620" cy="190500"/>
          </a:xfrm>
          <a:prstGeom prst="line">
            <a:avLst/>
          </a:prstGeom>
          <a:ln w="22860">
            <a:solidFill>
              <a:srgbClr val="2F7D3B"/>
            </a:solidFill>
            <a:tailEnd type="triangle"/>
          </a:ln>
        </p:spPr>
      </p:cxnSp>
      <p:cxnSp>
        <p:nvCxnSpPr>
          <p:cNvPr id="23" name="world snapshots to haptic 1"/>
          <p:cNvCxnSpPr>
            <a:cxnSpLocks/>
          </p:cNvCxnSpPr>
          <p:nvPr/>
        </p:nvCxnSpPr>
        <p:spPr>
          <a:xfrm>
            <a:off x="7780020" y="1066800"/>
            <a:ext cx="0" cy="19050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4" name="world snapshots to haptic 2"/>
          <p:cNvCxnSpPr/>
          <p:nvPr/>
        </p:nvCxnSpPr>
        <p:spPr>
          <a:xfrm>
            <a:off x="7772400" y="1257300"/>
            <a:ext cx="1905000" cy="762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5" name="world snapshots to haptic 3"/>
          <p:cNvCxnSpPr/>
          <p:nvPr/>
        </p:nvCxnSpPr>
        <p:spPr>
          <a:xfrm>
            <a:off x="9677400" y="1257300"/>
            <a:ext cx="7620" cy="190500"/>
          </a:xfrm>
          <a:prstGeom prst="line">
            <a:avLst/>
          </a:prstGeom>
          <a:ln w="22860">
            <a:solidFill>
              <a:srgbClr val="2F7D3B"/>
            </a:solidFill>
            <a:tailEnd type="triangle"/>
          </a:ln>
        </p:spPr>
      </p:cxnSp>
      <p:cxnSp>
        <p:nvCxnSpPr>
          <p:cNvPr id="26" name="haptic object wrench to queue"/>
          <p:cNvCxnSpPr/>
          <p:nvPr/>
        </p:nvCxnSpPr>
        <p:spPr>
          <a:xfrm flipH="1">
            <a:off x="8191500" y="1920240"/>
            <a:ext cx="34290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27" name="object wrench queue to simulation"/>
          <p:cNvCxnSpPr/>
          <p:nvPr/>
        </p:nvCxnSpPr>
        <p:spPr>
          <a:xfrm flipH="1">
            <a:off x="6705600" y="1920240"/>
            <a:ext cx="34290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28" name="haptic snapshots to render 1"/>
          <p:cNvCxnSpPr/>
          <p:nvPr/>
        </p:nvCxnSpPr>
        <p:spPr>
          <a:xfrm>
            <a:off x="9677400" y="2400300"/>
            <a:ext cx="7620" cy="3429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29" name="haptic snapshots to render 2"/>
          <p:cNvCxnSpPr/>
          <p:nvPr/>
        </p:nvCxnSpPr>
        <p:spPr>
          <a:xfrm flipH="1">
            <a:off x="6896100" y="2743200"/>
            <a:ext cx="278130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0" name="haptic snapshots to render 3"/>
          <p:cNvCxnSpPr/>
          <p:nvPr/>
        </p:nvCxnSpPr>
        <p:spPr>
          <a:xfrm>
            <a:off x="6896100" y="2743200"/>
            <a:ext cx="7620" cy="51054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2" name="haptic snapshots to render 5"/>
          <p:cNvCxnSpPr/>
          <p:nvPr/>
        </p:nvCxnSpPr>
        <p:spPr>
          <a:xfrm flipH="1">
            <a:off x="1676400" y="3253740"/>
            <a:ext cx="259080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3" name="haptic snapshots to render 6"/>
          <p:cNvCxnSpPr/>
          <p:nvPr/>
        </p:nvCxnSpPr>
        <p:spPr>
          <a:xfrm flipV="1">
            <a:off x="1676400" y="2400300"/>
            <a:ext cx="7620" cy="85344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34" name="device pose to haptic 1"/>
          <p:cNvCxnSpPr>
            <a:cxnSpLocks/>
          </p:cNvCxnSpPr>
          <p:nvPr/>
        </p:nvCxnSpPr>
        <p:spPr>
          <a:xfrm flipV="1">
            <a:off x="9117330" y="3909060"/>
            <a:ext cx="0" cy="60198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7" name="device pose to haptic 4"/>
          <p:cNvCxnSpPr/>
          <p:nvPr/>
        </p:nvCxnSpPr>
        <p:spPr>
          <a:xfrm flipV="1">
            <a:off x="9220200" y="3314700"/>
            <a:ext cx="7620" cy="59436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8" name="device pose to haptic 5"/>
          <p:cNvCxnSpPr/>
          <p:nvPr/>
        </p:nvCxnSpPr>
        <p:spPr>
          <a:xfrm flipV="1">
            <a:off x="9220200" y="2400300"/>
            <a:ext cx="7620" cy="91440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39" name="haptic force to device 1"/>
          <p:cNvCxnSpPr/>
          <p:nvPr/>
        </p:nvCxnSpPr>
        <p:spPr>
          <a:xfrm>
            <a:off x="9677400" y="2400300"/>
            <a:ext cx="7620" cy="5715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0" name="haptic force to device 2"/>
          <p:cNvCxnSpPr/>
          <p:nvPr/>
        </p:nvCxnSpPr>
        <p:spPr>
          <a:xfrm>
            <a:off x="9677400" y="2971800"/>
            <a:ext cx="116586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1" name="haptic force to device 3"/>
          <p:cNvCxnSpPr/>
          <p:nvPr/>
        </p:nvCxnSpPr>
        <p:spPr>
          <a:xfrm>
            <a:off x="10843260" y="2971800"/>
            <a:ext cx="7620" cy="3429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2" name="haptic force to device 4"/>
          <p:cNvCxnSpPr/>
          <p:nvPr/>
        </p:nvCxnSpPr>
        <p:spPr>
          <a:xfrm>
            <a:off x="10843260" y="3314700"/>
            <a:ext cx="7620" cy="59436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3" name="haptic force to device 5"/>
          <p:cNvCxnSpPr>
            <a:cxnSpLocks/>
          </p:cNvCxnSpPr>
          <p:nvPr/>
        </p:nvCxnSpPr>
        <p:spPr>
          <a:xfrm>
            <a:off x="10843260" y="3909060"/>
            <a:ext cx="7620" cy="40386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6" name="haptic validation logging 1"/>
          <p:cNvCxnSpPr>
            <a:cxnSpLocks/>
          </p:cNvCxnSpPr>
          <p:nvPr/>
        </p:nvCxnSpPr>
        <p:spPr>
          <a:xfrm>
            <a:off x="8633460" y="2400300"/>
            <a:ext cx="13335" cy="579120"/>
          </a:xfrm>
          <a:prstGeom prst="line">
            <a:avLst/>
          </a:prstGeom>
          <a:ln w="22860">
            <a:solidFill>
              <a:srgbClr val="8C5A13"/>
            </a:solidFill>
          </a:ln>
        </p:spPr>
      </p:cxnSp>
      <p:cxnSp>
        <p:nvCxnSpPr>
          <p:cNvPr id="47" name="haptic validation logging 2"/>
          <p:cNvCxnSpPr>
            <a:cxnSpLocks/>
          </p:cNvCxnSpPr>
          <p:nvPr/>
        </p:nvCxnSpPr>
        <p:spPr>
          <a:xfrm flipH="1" flipV="1">
            <a:off x="5498211" y="4093464"/>
            <a:ext cx="2025967" cy="33527"/>
          </a:xfrm>
          <a:prstGeom prst="line">
            <a:avLst/>
          </a:prstGeom>
          <a:ln w="22860">
            <a:solidFill>
              <a:srgbClr val="8C5A13"/>
            </a:solidFill>
          </a:ln>
        </p:spPr>
      </p:cxnSp>
      <p:cxnSp>
        <p:nvCxnSpPr>
          <p:cNvPr id="48" name="haptic validation logging 3"/>
          <p:cNvCxnSpPr>
            <a:cxnSpLocks/>
            <a:endCxn id="16" idx="0"/>
          </p:cNvCxnSpPr>
          <p:nvPr/>
        </p:nvCxnSpPr>
        <p:spPr>
          <a:xfrm>
            <a:off x="5498211" y="4084320"/>
            <a:ext cx="2667" cy="457200"/>
          </a:xfrm>
          <a:prstGeom prst="line">
            <a:avLst/>
          </a:prstGeom>
          <a:ln w="22860">
            <a:solidFill>
              <a:srgbClr val="8C5A13"/>
            </a:solidFill>
            <a:tailEnd type="triangle"/>
          </a:ln>
        </p:spPr>
      </p:cxnSp>
      <p:cxnSp>
        <p:nvCxnSpPr>
          <p:cNvPr id="49" name="device logging"/>
          <p:cNvCxnSpPr>
            <a:cxnSpLocks/>
          </p:cNvCxnSpPr>
          <p:nvPr/>
        </p:nvCxnSpPr>
        <p:spPr>
          <a:xfrm flipH="1">
            <a:off x="6148578" y="4911090"/>
            <a:ext cx="1348549" cy="0"/>
          </a:xfrm>
          <a:prstGeom prst="line">
            <a:avLst/>
          </a:prstGeom>
          <a:ln w="22860">
            <a:solidFill>
              <a:srgbClr val="8C5A13"/>
            </a:solidFill>
            <a:tailEnd type="triangle"/>
          </a:ln>
        </p:spPr>
      </p:cxnSp>
      <p:sp>
        <p:nvSpPr>
          <p:cNvPr id="51" name="Legend snapshot"/>
          <p:cNvSpPr/>
          <p:nvPr/>
        </p:nvSpPr>
        <p:spPr>
          <a:xfrm>
            <a:off x="609600" y="6057900"/>
            <a:ext cx="320040" cy="182880"/>
          </a:xfrm>
          <a:prstGeom prst="roundRect">
            <a:avLst/>
          </a:prstGeom>
          <a:solidFill>
            <a:srgbClr val="E8F7EA"/>
          </a:solidFill>
          <a:ln w="15240">
            <a:solidFill>
              <a:srgbClr val="2F7D3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2" name="Legend snapshot text"/>
          <p:cNvSpPr txBox="1"/>
          <p:nvPr/>
        </p:nvSpPr>
        <p:spPr>
          <a:xfrm>
            <a:off x="1043940" y="5966460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GB" sz="1700">
                <a:solidFill>
                  <a:srgbClr val="384456"/>
                </a:solidFill>
                <a:latin typeface="Arial"/>
              </a:rPr>
              <a:t>latest-value snapshot</a:t>
            </a:r>
          </a:p>
        </p:txBody>
      </p:sp>
      <p:sp>
        <p:nvSpPr>
          <p:cNvPr id="53" name="Legend queue"/>
          <p:cNvSpPr/>
          <p:nvPr/>
        </p:nvSpPr>
        <p:spPr>
          <a:xfrm>
            <a:off x="2590800" y="6057900"/>
            <a:ext cx="320040" cy="182880"/>
          </a:xfrm>
          <a:prstGeom prst="roundRect">
            <a:avLst/>
          </a:prstGeom>
          <a:solidFill>
            <a:srgbClr val="E7F0FF"/>
          </a:solidFill>
          <a:ln w="15240">
            <a:solidFill>
              <a:srgbClr val="2B5FA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4" name="Legend queue text"/>
          <p:cNvSpPr txBox="1"/>
          <p:nvPr/>
        </p:nvSpPr>
        <p:spPr>
          <a:xfrm>
            <a:off x="3025140" y="596646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GB" sz="1700">
                <a:solidFill>
                  <a:srgbClr val="384456"/>
                </a:solidFill>
                <a:latin typeface="Arial"/>
              </a:rPr>
              <a:t>FIFO queue</a:t>
            </a:r>
          </a:p>
        </p:txBody>
      </p:sp>
      <p:sp>
        <p:nvSpPr>
          <p:cNvPr id="55" name="Legend log"/>
          <p:cNvSpPr/>
          <p:nvPr/>
        </p:nvSpPr>
        <p:spPr>
          <a:xfrm>
            <a:off x="4076700" y="6057900"/>
            <a:ext cx="320040" cy="182880"/>
          </a:xfrm>
          <a:prstGeom prst="roundRect">
            <a:avLst/>
          </a:prstGeom>
          <a:solidFill>
            <a:srgbClr val="FFF1DF"/>
          </a:solidFill>
          <a:ln w="15240">
            <a:solidFill>
              <a:srgbClr val="A4631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6" name="Legend log text"/>
          <p:cNvSpPr txBox="1"/>
          <p:nvPr/>
        </p:nvSpPr>
        <p:spPr>
          <a:xfrm>
            <a:off x="4511040" y="5966460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GB" sz="1700" dirty="0">
                <a:solidFill>
                  <a:srgbClr val="384456"/>
                </a:solidFill>
                <a:latin typeface="Arial"/>
              </a:rPr>
              <a:t>logging queue group</a:t>
            </a:r>
          </a:p>
        </p:txBody>
      </p:sp>
      <p:sp>
        <p:nvSpPr>
          <p:cNvPr id="14" name="device.tool_in"/>
          <p:cNvSpPr/>
          <p:nvPr/>
        </p:nvSpPr>
        <p:spPr>
          <a:xfrm>
            <a:off x="8496300" y="3314700"/>
            <a:ext cx="1447800" cy="59436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t"/>
          <a:lstStyle/>
          <a:p>
            <a:pPr algn="ctr"/>
            <a:r>
              <a:rPr lang="en-GB" sz="1200" b="1" dirty="0">
                <a:solidFill>
                  <a:srgbClr val="172033"/>
                </a:solidFill>
                <a:latin typeface="Arial"/>
              </a:rPr>
              <a:t>Device pose</a:t>
            </a:r>
          </a:p>
          <a:p>
            <a:pPr algn="ctr"/>
            <a:r>
              <a:rPr lang="en-GB" sz="1050" dirty="0">
                <a:solidFill>
                  <a:srgbClr val="4D5969"/>
                </a:solidFill>
                <a:latin typeface="Arial"/>
              </a:rPr>
              <a:t>FK tool input</a:t>
            </a:r>
          </a:p>
          <a:p>
            <a:pPr algn="ctr"/>
            <a:r>
              <a:rPr lang="en-GB" sz="1050" dirty="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5" name="device.wrench_cmd"/>
          <p:cNvSpPr/>
          <p:nvPr/>
        </p:nvSpPr>
        <p:spPr>
          <a:xfrm>
            <a:off x="10119360" y="3314700"/>
            <a:ext cx="1447800" cy="59436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t"/>
          <a:lstStyle/>
          <a:p>
            <a:pPr algn="ctr"/>
            <a:r>
              <a:rPr lang="en-GB" sz="1200" b="1" dirty="0">
                <a:solidFill>
                  <a:srgbClr val="172033"/>
                </a:solidFill>
                <a:latin typeface="Arial"/>
              </a:rPr>
              <a:t>Device force</a:t>
            </a:r>
          </a:p>
          <a:p>
            <a:pPr algn="ctr"/>
            <a:r>
              <a:rPr lang="en-GB" sz="1100" dirty="0">
                <a:solidFill>
                  <a:srgbClr val="4D5969"/>
                </a:solidFill>
                <a:latin typeface="Arial"/>
              </a:rPr>
              <a:t>torque command</a:t>
            </a:r>
          </a:p>
          <a:p>
            <a:pPr algn="ctr"/>
            <a:r>
              <a:rPr lang="en-GB" sz="1100" dirty="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cxnSp>
        <p:nvCxnSpPr>
          <p:cNvPr id="79" name="haptic force to device 5">
            <a:extLst>
              <a:ext uri="{FF2B5EF4-FFF2-40B4-BE49-F238E27FC236}">
                <a16:creationId xmlns:a16="http://schemas.microsoft.com/office/drawing/2014/main" id="{5293A709-8FE2-0B5B-5CD9-99E32A62BD76}"/>
              </a:ext>
            </a:extLst>
          </p:cNvPr>
          <p:cNvCxnSpPr>
            <a:cxnSpLocks/>
          </p:cNvCxnSpPr>
          <p:nvPr/>
        </p:nvCxnSpPr>
        <p:spPr>
          <a:xfrm flipH="1">
            <a:off x="9502140" y="4312920"/>
            <a:ext cx="1348740" cy="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82" name="haptic snapshots to render 6">
            <a:extLst>
              <a:ext uri="{FF2B5EF4-FFF2-40B4-BE49-F238E27FC236}">
                <a16:creationId xmlns:a16="http://schemas.microsoft.com/office/drawing/2014/main" id="{D821AF3B-5002-9DDD-D4D3-1675962B6069}"/>
              </a:ext>
            </a:extLst>
          </p:cNvPr>
          <p:cNvCxnSpPr>
            <a:cxnSpLocks/>
          </p:cNvCxnSpPr>
          <p:nvPr/>
        </p:nvCxnSpPr>
        <p:spPr>
          <a:xfrm>
            <a:off x="9502140" y="4312920"/>
            <a:ext cx="0" cy="19050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87" name="haptic validation logging 2">
            <a:extLst>
              <a:ext uri="{FF2B5EF4-FFF2-40B4-BE49-F238E27FC236}">
                <a16:creationId xmlns:a16="http://schemas.microsoft.com/office/drawing/2014/main" id="{2840058A-FD55-57A5-E839-0B63305082A0}"/>
              </a:ext>
            </a:extLst>
          </p:cNvPr>
          <p:cNvCxnSpPr>
            <a:cxnSpLocks/>
          </p:cNvCxnSpPr>
          <p:nvPr/>
        </p:nvCxnSpPr>
        <p:spPr>
          <a:xfrm flipH="1" flipV="1">
            <a:off x="7490460" y="2964180"/>
            <a:ext cx="1192149" cy="7620"/>
          </a:xfrm>
          <a:prstGeom prst="line">
            <a:avLst/>
          </a:prstGeom>
          <a:ln w="22860">
            <a:solidFill>
              <a:srgbClr val="8C5A13"/>
            </a:solidFill>
          </a:ln>
        </p:spPr>
      </p:cxnSp>
      <p:cxnSp>
        <p:nvCxnSpPr>
          <p:cNvPr id="89" name="haptic validation logging 2">
            <a:extLst>
              <a:ext uri="{FF2B5EF4-FFF2-40B4-BE49-F238E27FC236}">
                <a16:creationId xmlns:a16="http://schemas.microsoft.com/office/drawing/2014/main" id="{2175D668-8D27-9E20-4D54-CD704F1635B5}"/>
              </a:ext>
            </a:extLst>
          </p:cNvPr>
          <p:cNvCxnSpPr>
            <a:cxnSpLocks/>
          </p:cNvCxnSpPr>
          <p:nvPr/>
        </p:nvCxnSpPr>
        <p:spPr>
          <a:xfrm flipV="1">
            <a:off x="7524178" y="2955798"/>
            <a:ext cx="0" cy="1162811"/>
          </a:xfrm>
          <a:prstGeom prst="line">
            <a:avLst/>
          </a:prstGeom>
          <a:ln w="22860">
            <a:solidFill>
              <a:srgbClr val="8C5A13"/>
            </a:solidFill>
          </a:ln>
        </p:spPr>
      </p:cxnSp>
      <p:sp>
        <p:nvSpPr>
          <p:cNvPr id="94" name="Legend log">
            <a:extLst>
              <a:ext uri="{FF2B5EF4-FFF2-40B4-BE49-F238E27FC236}">
                <a16:creationId xmlns:a16="http://schemas.microsoft.com/office/drawing/2014/main" id="{86DBAA1C-5BDE-CBC5-5305-F0AA9F83604C}"/>
              </a:ext>
            </a:extLst>
          </p:cNvPr>
          <p:cNvSpPr/>
          <p:nvPr/>
        </p:nvSpPr>
        <p:spPr>
          <a:xfrm>
            <a:off x="6073142" y="6057900"/>
            <a:ext cx="320040" cy="1828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240">
            <a:solidFill>
              <a:srgbClr val="7030A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6" name="Legend log text">
            <a:extLst>
              <a:ext uri="{FF2B5EF4-FFF2-40B4-BE49-F238E27FC236}">
                <a16:creationId xmlns:a16="http://schemas.microsoft.com/office/drawing/2014/main" id="{4DC0C542-BAA4-B4CB-EFB4-7B8BD05E195E}"/>
              </a:ext>
            </a:extLst>
          </p:cNvPr>
          <p:cNvSpPr txBox="1"/>
          <p:nvPr/>
        </p:nvSpPr>
        <p:spPr>
          <a:xfrm>
            <a:off x="6507484" y="6071616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GB" sz="1700" dirty="0">
                <a:solidFill>
                  <a:srgbClr val="384456"/>
                </a:solidFill>
                <a:latin typeface="Arial"/>
              </a:rPr>
              <a:t>MCU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4DB3655-A3CB-EE95-DA10-E0CF6F0149AF}"/>
              </a:ext>
            </a:extLst>
          </p:cNvPr>
          <p:cNvCxnSpPr>
            <a:stCxn id="7" idx="3"/>
          </p:cNvCxnSpPr>
          <p:nvPr/>
        </p:nvCxnSpPr>
        <p:spPr>
          <a:xfrm>
            <a:off x="9776460" y="4979670"/>
            <a:ext cx="7810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0AFDB88-A670-4A39-289F-334D1430AE21}"/>
              </a:ext>
            </a:extLst>
          </p:cNvPr>
          <p:cNvCxnSpPr>
            <a:cxnSpLocks/>
          </p:cNvCxnSpPr>
          <p:nvPr/>
        </p:nvCxnSpPr>
        <p:spPr>
          <a:xfrm flipH="1">
            <a:off x="9785985" y="5227320"/>
            <a:ext cx="8393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world.snapshots"/>
          <p:cNvSpPr/>
          <p:nvPr/>
        </p:nvSpPr>
        <p:spPr>
          <a:xfrm>
            <a:off x="3736848" y="295274"/>
            <a:ext cx="4114793" cy="786765"/>
          </a:xfrm>
          <a:prstGeom prst="roundRect">
            <a:avLst/>
          </a:prstGeom>
          <a:solidFill>
            <a:srgbClr val="E8F7EA"/>
          </a:solidFill>
          <a:ln w="19050">
            <a:solidFill>
              <a:srgbClr val="2F7D3B"/>
            </a:solidFill>
          </a:ln>
        </p:spPr>
        <p:txBody>
          <a:bodyPr wrap="square" anchor="t"/>
          <a:lstStyle/>
          <a:p>
            <a:pPr algn="ctr"/>
            <a:r>
              <a:rPr lang="en-GB" sz="1700" b="1" dirty="0">
                <a:solidFill>
                  <a:srgbClr val="172033"/>
                </a:solidFill>
                <a:latin typeface="Arial"/>
              </a:rPr>
              <a:t>World snapshots</a:t>
            </a:r>
          </a:p>
          <a:p>
            <a:pPr algn="ctr"/>
            <a:r>
              <a:rPr lang="en-GB" sz="1200" dirty="0">
                <a:solidFill>
                  <a:srgbClr val="4D5969"/>
                </a:solidFill>
                <a:latin typeface="Arial"/>
              </a:rPr>
              <a:t>latest object poses, roles, physics properties</a:t>
            </a:r>
          </a:p>
          <a:p>
            <a:pPr algn="ctr"/>
            <a:r>
              <a:rPr lang="en-GB" sz="1200" dirty="0">
                <a:solidFill>
                  <a:srgbClr val="4D5969"/>
                </a:solidFill>
                <a:latin typeface="Arial"/>
              </a:rPr>
              <a:t>SnapshotChannel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and Message Bus Overview</dc:title>
  <dc:creator>Codex</dc:creator>
  <cp:lastModifiedBy>Tyler Ward</cp:lastModifiedBy>
  <cp:revision>1</cp:revision>
  <dcterms:created xsi:type="dcterms:W3CDTF">2026-05-04T20:09:42Z</dcterms:created>
  <dcterms:modified xsi:type="dcterms:W3CDTF">2026-05-05T08:21:23Z</dcterms:modified>
</cp:coreProperties>
</file>